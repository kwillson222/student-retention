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embeddedFontLst>
    <p:embeddedFont>
      <p:font typeface="DM Sans Medium"/>
      <p:regular r:id="rId27"/>
      <p:bold r:id="rId28"/>
      <p:italic r:id="rId29"/>
      <p:boldItalic r:id="rId30"/>
    </p:embeddedFont>
    <p:embeddedFont>
      <p:font typeface="Merriweather"/>
      <p:regular r:id="rId31"/>
      <p:bold r:id="rId32"/>
      <p:italic r:id="rId33"/>
      <p:boldItalic r:id="rId34"/>
    </p:embeddedFont>
    <p:embeddedFont>
      <p:font typeface="DM Sans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DMSansMedium-bold.fntdata"/><Relationship Id="rId27" Type="http://schemas.openxmlformats.org/officeDocument/2006/relationships/font" Target="fonts/DMSansMedium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DMSansMedium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erriweather-regular.fntdata"/><Relationship Id="rId30" Type="http://schemas.openxmlformats.org/officeDocument/2006/relationships/font" Target="fonts/DMSansMedium-boldItalic.fntdata"/><Relationship Id="rId11" Type="http://schemas.openxmlformats.org/officeDocument/2006/relationships/slide" Target="slides/slide6.xml"/><Relationship Id="rId33" Type="http://schemas.openxmlformats.org/officeDocument/2006/relationships/font" Target="fonts/Merriweather-italic.fntdata"/><Relationship Id="rId10" Type="http://schemas.openxmlformats.org/officeDocument/2006/relationships/slide" Target="slides/slide5.xml"/><Relationship Id="rId32" Type="http://schemas.openxmlformats.org/officeDocument/2006/relationships/font" Target="fonts/Merriweather-bold.fntdata"/><Relationship Id="rId13" Type="http://schemas.openxmlformats.org/officeDocument/2006/relationships/slide" Target="slides/slide8.xml"/><Relationship Id="rId35" Type="http://schemas.openxmlformats.org/officeDocument/2006/relationships/font" Target="fonts/DMSans-regular.fntdata"/><Relationship Id="rId12" Type="http://schemas.openxmlformats.org/officeDocument/2006/relationships/slide" Target="slides/slide7.xml"/><Relationship Id="rId34" Type="http://schemas.openxmlformats.org/officeDocument/2006/relationships/font" Target="fonts/Merriweather-boldItalic.fntdata"/><Relationship Id="rId15" Type="http://schemas.openxmlformats.org/officeDocument/2006/relationships/slide" Target="slides/slide10.xml"/><Relationship Id="rId37" Type="http://schemas.openxmlformats.org/officeDocument/2006/relationships/font" Target="fonts/DMSans-italic.fntdata"/><Relationship Id="rId14" Type="http://schemas.openxmlformats.org/officeDocument/2006/relationships/slide" Target="slides/slide9.xml"/><Relationship Id="rId36" Type="http://schemas.openxmlformats.org/officeDocument/2006/relationships/font" Target="fonts/DMSans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schemas.openxmlformats.org/officeDocument/2006/relationships/font" Target="fonts/DMSans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eeab15698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eeab15698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31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1.  Cover in your presentation </a:t>
            </a:r>
            <a:r>
              <a:rPr i="1" lang="en">
                <a:solidFill>
                  <a:schemeClr val="dk1"/>
                </a:solidFill>
              </a:rPr>
              <a:t>each</a:t>
            </a:r>
            <a:r>
              <a:rPr lang="en">
                <a:solidFill>
                  <a:schemeClr val="dk1"/>
                </a:solidFill>
              </a:rPr>
              <a:t> of the following points:</a:t>
            </a:r>
            <a:endParaRPr>
              <a:solidFill>
                <a:schemeClr val="dk1"/>
              </a:solidFill>
            </a:endParaRPr>
          </a:p>
          <a:p>
            <a:pPr indent="0" lvl="0" marL="596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•   brief introduction of yourself and your background</a:t>
            </a:r>
            <a:endParaRPr>
              <a:solidFill>
                <a:schemeClr val="dk1"/>
              </a:solidFill>
            </a:endParaRPr>
          </a:p>
          <a:p>
            <a:pPr indent="0" lvl="0" marL="596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•   statement of the problem and the hypothesis</a:t>
            </a:r>
            <a:endParaRPr>
              <a:solidFill>
                <a:schemeClr val="dk1"/>
              </a:solidFill>
            </a:endParaRPr>
          </a:p>
          <a:p>
            <a:pPr indent="0" lvl="0" marL="596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•   summary of the data-analysis process</a:t>
            </a:r>
            <a:endParaRPr>
              <a:solidFill>
                <a:schemeClr val="dk1"/>
              </a:solidFill>
            </a:endParaRPr>
          </a:p>
          <a:p>
            <a:pPr indent="0" lvl="0" marL="596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•   outline of the findings</a:t>
            </a:r>
            <a:endParaRPr>
              <a:solidFill>
                <a:schemeClr val="dk1"/>
              </a:solidFill>
            </a:endParaRPr>
          </a:p>
          <a:p>
            <a:pPr indent="0" lvl="0" marL="596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•   explanation of the limitations of the techniques and tools used</a:t>
            </a:r>
            <a:endParaRPr>
              <a:solidFill>
                <a:schemeClr val="dk1"/>
              </a:solidFill>
            </a:endParaRPr>
          </a:p>
          <a:p>
            <a:pPr indent="0" lvl="0" marL="596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•   summary of proposed actions</a:t>
            </a:r>
            <a:endParaRPr>
              <a:solidFill>
                <a:schemeClr val="dk1"/>
              </a:solidFill>
            </a:endParaRPr>
          </a:p>
          <a:p>
            <a:pPr indent="0" lvl="0" marL="596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•   expected benefits of the study (be as specific and quantitative as possible)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eeab156982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eeab156982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eeab156982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eeab156982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eadafffe55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eadafffe55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eadafffe55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eadafffe55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eadafffe55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eadafffe55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eeee4a7bc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eeee4a7bc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eeee4a7bc6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eeee4a7bc6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eeee4a7bc6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eeee4a7bc6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eeee4a7bc6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eeee4a7bc6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eeee4a7bc6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eeee4a7bc6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ec6f50703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ec6f50703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ec6f507039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3ec6f507039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ec6f507039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3ec6f507039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ec6f507039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3ec6f507039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ec6f507039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3ec6f507039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ed99cfc14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3ed99cfc14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f1540be85e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3f1540be85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f1540be85e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3f1540be85e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f1540be85e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3f1540be85e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eeab156982_0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3eeab156982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" name="Google Shape;53;p13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" name="Google Shape;54;p13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5" name="Google Shape;55;p13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6" name="Google Shape;56;p13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7" name="Google Shape;57;p13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8" name="Google Shape;58;p13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2" name="Google Shape;62;p14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" name="Google Shape;66;p1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9" name="Google Shape;69;p1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0" name="Google Shape;70;p1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7" name="Google Shape;77;p16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8" name="Google Shape;78;p16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9" name="Google Shape;79;p16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3" name="Google Shape;83;p1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4" name="Google Shape;84;p1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5" name="Google Shape;85;p1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6" name="Google Shape;86;p1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7" name="Google Shape;87;p1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" name="Google Shape;88;p1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" name="Google Shape;89;p1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0" name="Google Shape;90;p1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93" name="Google Shape;93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8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7" name="Google Shape;97;p1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8" name="Google Shape;98;p1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9" name="Google Shape;99;p1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" name="Google Shape;10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102" name="Google Shape;102;p1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3" name="Google Shape;103;p1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6" name="Google Shape;106;p2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7" name="Google Shape;107;p2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2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9" name="Google Shape;109;p2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10" name="Google Shape;110;p2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1" name="Google Shape;111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2" name="Google Shape;11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113" name="Google Shape;113;p2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4" name="Google Shape;114;p2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5" name="Google Shape;115;p2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18" name="Google Shape;118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1" name="Google Shape;121;p2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p2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3" name="Google Shape;123;p2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4" name="Google Shape;124;p2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5" name="Google Shape;125;p2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6" name="Google Shape;126;p2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7" name="Google Shape;127;p2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128" name="Google Shape;128;p2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9" name="Google Shape;129;p2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0" name="Google Shape;130;p2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slide" type="title">
  <p:cSld name="TITLE">
    <p:bg>
      <p:bgPr>
        <a:solidFill>
          <a:schemeClr val="dk1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/>
          <p:nvPr>
            <p:ph idx="1" type="body"/>
          </p:nvPr>
        </p:nvSpPr>
        <p:spPr>
          <a:xfrm>
            <a:off x="196951" y="4737750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3" name="Google Shape;133;p23"/>
          <p:cNvSpPr txBox="1"/>
          <p:nvPr>
            <p:ph type="ctrTitle"/>
          </p:nvPr>
        </p:nvSpPr>
        <p:spPr>
          <a:xfrm>
            <a:off x="196950" y="223825"/>
            <a:ext cx="8011800" cy="18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750"/>
              <a:buNone/>
              <a:defRPr sz="675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4" name="Google Shape;134;p23"/>
          <p:cNvSpPr txBox="1"/>
          <p:nvPr>
            <p:ph idx="2" type="subTitle"/>
          </p:nvPr>
        </p:nvSpPr>
        <p:spPr>
          <a:xfrm>
            <a:off x="196950" y="2171250"/>
            <a:ext cx="3986700" cy="5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50"/>
              <a:buFont typeface="DM Sans Medium"/>
              <a:buNone/>
              <a:defRPr sz="1850"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5" name="Google Shape;135;p23"/>
          <p:cNvSpPr/>
          <p:nvPr>
            <p:ph idx="3" type="pic"/>
          </p:nvPr>
        </p:nvSpPr>
        <p:spPr>
          <a:xfrm>
            <a:off x="4437578" y="2171250"/>
            <a:ext cx="4509600" cy="27756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136" name="Google Shape;136;p23"/>
          <p:cNvSpPr txBox="1"/>
          <p:nvPr>
            <p:ph idx="4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number" type="secHead">
  <p:cSld name="SECTION_HEADER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 txBox="1"/>
          <p:nvPr>
            <p:ph type="title"/>
          </p:nvPr>
        </p:nvSpPr>
        <p:spPr>
          <a:xfrm>
            <a:off x="511953" y="5885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9" name="Google Shape;139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0" name="Google Shape;140;p24"/>
          <p:cNvSpPr txBox="1"/>
          <p:nvPr>
            <p:ph idx="2" type="title"/>
          </p:nvPr>
        </p:nvSpPr>
        <p:spPr>
          <a:xfrm>
            <a:off x="511953" y="14303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41" name="Google Shape;141;p24"/>
          <p:cNvSpPr txBox="1"/>
          <p:nvPr>
            <p:ph idx="3" type="title"/>
          </p:nvPr>
        </p:nvSpPr>
        <p:spPr>
          <a:xfrm>
            <a:off x="511953" y="22721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42" name="Google Shape;142;p24"/>
          <p:cNvSpPr txBox="1"/>
          <p:nvPr>
            <p:ph idx="4" type="title"/>
          </p:nvPr>
        </p:nvSpPr>
        <p:spPr>
          <a:xfrm>
            <a:off x="511953" y="31139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43" name="Google Shape;143;p24"/>
          <p:cNvSpPr txBox="1"/>
          <p:nvPr>
            <p:ph idx="5" type="title"/>
          </p:nvPr>
        </p:nvSpPr>
        <p:spPr>
          <a:xfrm>
            <a:off x="511953" y="39557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44" name="Google Shape;144;p24"/>
          <p:cNvSpPr txBox="1"/>
          <p:nvPr>
            <p:ph idx="1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5" name="Google Shape;145;p24"/>
          <p:cNvSpPr txBox="1"/>
          <p:nvPr>
            <p:ph idx="6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1" type="tx">
  <p:cSld name="TITLE_AND_BODY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8" name="Google Shape;148;p25"/>
          <p:cNvSpPr txBox="1"/>
          <p:nvPr>
            <p:ph idx="1" type="subTitle"/>
          </p:nvPr>
        </p:nvSpPr>
        <p:spPr>
          <a:xfrm>
            <a:off x="975300" y="1864050"/>
            <a:ext cx="7193400" cy="141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149" name="Google Shape;149;p25"/>
          <p:cNvSpPr txBox="1"/>
          <p:nvPr>
            <p:ph idx="2" type="body"/>
          </p:nvPr>
        </p:nvSpPr>
        <p:spPr>
          <a:xfrm>
            <a:off x="196951" y="196725"/>
            <a:ext cx="18591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0" name="Google Shape;150;p25"/>
          <p:cNvSpPr txBox="1"/>
          <p:nvPr>
            <p:ph idx="3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2">
  <p:cSld name="TITLE_AND_BODY_1">
    <p:bg>
      <p:bgPr>
        <a:solidFill>
          <a:schemeClr val="dk1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3" name="Google Shape;153;p26"/>
          <p:cNvSpPr txBox="1"/>
          <p:nvPr>
            <p:ph idx="1" type="subTitle"/>
          </p:nvPr>
        </p:nvSpPr>
        <p:spPr>
          <a:xfrm>
            <a:off x="975300" y="1864050"/>
            <a:ext cx="7193400" cy="141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154" name="Google Shape;154;p26"/>
          <p:cNvSpPr txBox="1"/>
          <p:nvPr>
            <p:ph idx="2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5" name="Google Shape;155;p26"/>
          <p:cNvSpPr txBox="1"/>
          <p:nvPr>
            <p:ph idx="3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1" type="twoColTx">
  <p:cSld name="TITLE_AND_TWO_COLUMNS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7"/>
          <p:cNvSpPr txBox="1"/>
          <p:nvPr>
            <p:ph type="title"/>
          </p:nvPr>
        </p:nvSpPr>
        <p:spPr>
          <a:xfrm>
            <a:off x="197375" y="1052750"/>
            <a:ext cx="3151800" cy="16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158" name="Google Shape;158;p27"/>
          <p:cNvSpPr txBox="1"/>
          <p:nvPr>
            <p:ph idx="1" type="body"/>
          </p:nvPr>
        </p:nvSpPr>
        <p:spPr>
          <a:xfrm>
            <a:off x="197375" y="2685650"/>
            <a:ext cx="3151800" cy="18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9" name="Google Shape;159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0" name="Google Shape;160;p27"/>
          <p:cNvSpPr/>
          <p:nvPr>
            <p:ph idx="2" type="pic"/>
          </p:nvPr>
        </p:nvSpPr>
        <p:spPr>
          <a:xfrm>
            <a:off x="3726325" y="669925"/>
            <a:ext cx="5220900" cy="4276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161" name="Google Shape;161;p27"/>
          <p:cNvSpPr txBox="1"/>
          <p:nvPr>
            <p:ph idx="3" type="body"/>
          </p:nvPr>
        </p:nvSpPr>
        <p:spPr>
          <a:xfrm>
            <a:off x="196951" y="196725"/>
            <a:ext cx="18606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2" name="Google Shape;162;p27"/>
          <p:cNvSpPr txBox="1"/>
          <p:nvPr>
            <p:ph idx="4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2">
  <p:cSld name="TITLE_AND_TWO_COLUMNS_1">
    <p:bg>
      <p:bgPr>
        <a:solidFill>
          <a:schemeClr val="dk1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8"/>
          <p:cNvSpPr txBox="1"/>
          <p:nvPr>
            <p:ph type="title"/>
          </p:nvPr>
        </p:nvSpPr>
        <p:spPr>
          <a:xfrm>
            <a:off x="197375" y="1052750"/>
            <a:ext cx="3151800" cy="16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5" name="Google Shape;165;p28"/>
          <p:cNvSpPr txBox="1"/>
          <p:nvPr>
            <p:ph idx="1" type="body"/>
          </p:nvPr>
        </p:nvSpPr>
        <p:spPr>
          <a:xfrm>
            <a:off x="197375" y="2685650"/>
            <a:ext cx="3151800" cy="18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6" name="Google Shape;166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7" name="Google Shape;167;p28"/>
          <p:cNvSpPr/>
          <p:nvPr>
            <p:ph idx="2" type="pic"/>
          </p:nvPr>
        </p:nvSpPr>
        <p:spPr>
          <a:xfrm>
            <a:off x="3726325" y="669925"/>
            <a:ext cx="5220900" cy="4276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168" name="Google Shape;168;p28"/>
          <p:cNvSpPr txBox="1"/>
          <p:nvPr>
            <p:ph idx="3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9" name="Google Shape;169;p28"/>
          <p:cNvSpPr txBox="1"/>
          <p:nvPr>
            <p:ph idx="4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0" name="Google Shape;170;p28"/>
          <p:cNvSpPr txBox="1"/>
          <p:nvPr>
            <p:ph idx="5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chart">
  <p:cSld name="SECTION_TITLE_AND_DESCRIPTION">
    <p:bg>
      <p:bgPr>
        <a:solidFill>
          <a:schemeClr val="lt2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9"/>
          <p:cNvSpPr/>
          <p:nvPr/>
        </p:nvSpPr>
        <p:spPr>
          <a:xfrm>
            <a:off x="4305000" y="-125"/>
            <a:ext cx="4839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3" name="Google Shape;173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4" name="Google Shape;174;p29"/>
          <p:cNvSpPr txBox="1"/>
          <p:nvPr>
            <p:ph type="title"/>
          </p:nvPr>
        </p:nvSpPr>
        <p:spPr>
          <a:xfrm>
            <a:off x="197375" y="1052750"/>
            <a:ext cx="3151800" cy="16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75" name="Google Shape;175;p29"/>
          <p:cNvSpPr txBox="1"/>
          <p:nvPr>
            <p:ph idx="1" type="body"/>
          </p:nvPr>
        </p:nvSpPr>
        <p:spPr>
          <a:xfrm>
            <a:off x="197375" y="2685650"/>
            <a:ext cx="3151800" cy="18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76" name="Google Shape;176;p29"/>
          <p:cNvSpPr txBox="1"/>
          <p:nvPr>
            <p:ph idx="2" type="body"/>
          </p:nvPr>
        </p:nvSpPr>
        <p:spPr>
          <a:xfrm>
            <a:off x="196951" y="196725"/>
            <a:ext cx="18606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77" name="Google Shape;177;p29"/>
          <p:cNvSpPr txBox="1"/>
          <p:nvPr>
            <p:ph idx="3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ppendix">
  <p:cSld name="CAPTION_ONLY">
    <p:bg>
      <p:bgPr>
        <a:solidFill>
          <a:schemeClr val="lt2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0" name="Google Shape;180;p30"/>
          <p:cNvSpPr txBox="1"/>
          <p:nvPr>
            <p:ph idx="1" type="body"/>
          </p:nvPr>
        </p:nvSpPr>
        <p:spPr>
          <a:xfrm>
            <a:off x="203000" y="8914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81" name="Google Shape;181;p30"/>
          <p:cNvSpPr txBox="1"/>
          <p:nvPr>
            <p:ph idx="2" type="body"/>
          </p:nvPr>
        </p:nvSpPr>
        <p:spPr>
          <a:xfrm>
            <a:off x="203000" y="13204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82" name="Google Shape;182;p30"/>
          <p:cNvSpPr txBox="1"/>
          <p:nvPr>
            <p:ph idx="3" type="body"/>
          </p:nvPr>
        </p:nvSpPr>
        <p:spPr>
          <a:xfrm>
            <a:off x="203000" y="15886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83" name="Google Shape;183;p30"/>
          <p:cNvSpPr txBox="1"/>
          <p:nvPr>
            <p:ph idx="4" type="body"/>
          </p:nvPr>
        </p:nvSpPr>
        <p:spPr>
          <a:xfrm>
            <a:off x="203000" y="22065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84" name="Google Shape;184;p30"/>
          <p:cNvSpPr txBox="1"/>
          <p:nvPr>
            <p:ph idx="5" type="body"/>
          </p:nvPr>
        </p:nvSpPr>
        <p:spPr>
          <a:xfrm>
            <a:off x="203000" y="26355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85" name="Google Shape;185;p30"/>
          <p:cNvSpPr txBox="1"/>
          <p:nvPr>
            <p:ph idx="6" type="body"/>
          </p:nvPr>
        </p:nvSpPr>
        <p:spPr>
          <a:xfrm>
            <a:off x="203000" y="29037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86" name="Google Shape;186;p30"/>
          <p:cNvSpPr txBox="1"/>
          <p:nvPr>
            <p:ph idx="7" type="body"/>
          </p:nvPr>
        </p:nvSpPr>
        <p:spPr>
          <a:xfrm>
            <a:off x="203000" y="343340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87" name="Google Shape;187;p30"/>
          <p:cNvSpPr txBox="1"/>
          <p:nvPr>
            <p:ph idx="8" type="body"/>
          </p:nvPr>
        </p:nvSpPr>
        <p:spPr>
          <a:xfrm>
            <a:off x="203000" y="38624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88" name="Google Shape;188;p30"/>
          <p:cNvSpPr txBox="1"/>
          <p:nvPr>
            <p:ph idx="9" type="body"/>
          </p:nvPr>
        </p:nvSpPr>
        <p:spPr>
          <a:xfrm>
            <a:off x="203000" y="41306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89" name="Google Shape;189;p30"/>
          <p:cNvSpPr txBox="1"/>
          <p:nvPr>
            <p:ph idx="13" type="body"/>
          </p:nvPr>
        </p:nvSpPr>
        <p:spPr>
          <a:xfrm>
            <a:off x="3249600" y="8914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90" name="Google Shape;190;p30"/>
          <p:cNvSpPr txBox="1"/>
          <p:nvPr>
            <p:ph idx="14" type="body"/>
          </p:nvPr>
        </p:nvSpPr>
        <p:spPr>
          <a:xfrm>
            <a:off x="3249600" y="13204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91" name="Google Shape;191;p30"/>
          <p:cNvSpPr txBox="1"/>
          <p:nvPr>
            <p:ph idx="15" type="body"/>
          </p:nvPr>
        </p:nvSpPr>
        <p:spPr>
          <a:xfrm>
            <a:off x="3249600" y="15886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92" name="Google Shape;192;p30"/>
          <p:cNvSpPr txBox="1"/>
          <p:nvPr>
            <p:ph idx="16" type="body"/>
          </p:nvPr>
        </p:nvSpPr>
        <p:spPr>
          <a:xfrm>
            <a:off x="3249600" y="22065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93" name="Google Shape;193;p30"/>
          <p:cNvSpPr txBox="1"/>
          <p:nvPr>
            <p:ph idx="17" type="body"/>
          </p:nvPr>
        </p:nvSpPr>
        <p:spPr>
          <a:xfrm>
            <a:off x="3249600" y="26355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94" name="Google Shape;194;p30"/>
          <p:cNvSpPr txBox="1"/>
          <p:nvPr>
            <p:ph idx="18" type="body"/>
          </p:nvPr>
        </p:nvSpPr>
        <p:spPr>
          <a:xfrm>
            <a:off x="3249600" y="29037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95" name="Google Shape;195;p30"/>
          <p:cNvSpPr txBox="1"/>
          <p:nvPr>
            <p:ph idx="19" type="body"/>
          </p:nvPr>
        </p:nvSpPr>
        <p:spPr>
          <a:xfrm>
            <a:off x="3249600" y="343340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96" name="Google Shape;196;p30"/>
          <p:cNvSpPr txBox="1"/>
          <p:nvPr>
            <p:ph idx="20" type="body"/>
          </p:nvPr>
        </p:nvSpPr>
        <p:spPr>
          <a:xfrm>
            <a:off x="3249600" y="38624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97" name="Google Shape;197;p30"/>
          <p:cNvSpPr txBox="1"/>
          <p:nvPr>
            <p:ph idx="21" type="body"/>
          </p:nvPr>
        </p:nvSpPr>
        <p:spPr>
          <a:xfrm>
            <a:off x="3249600" y="41306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98" name="Google Shape;198;p30"/>
          <p:cNvSpPr txBox="1"/>
          <p:nvPr>
            <p:ph idx="22" type="body"/>
          </p:nvPr>
        </p:nvSpPr>
        <p:spPr>
          <a:xfrm>
            <a:off x="6296200" y="8914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99" name="Google Shape;199;p30"/>
          <p:cNvSpPr txBox="1"/>
          <p:nvPr>
            <p:ph idx="23" type="body"/>
          </p:nvPr>
        </p:nvSpPr>
        <p:spPr>
          <a:xfrm>
            <a:off x="6296200" y="13204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00" name="Google Shape;200;p30"/>
          <p:cNvSpPr txBox="1"/>
          <p:nvPr>
            <p:ph idx="24" type="body"/>
          </p:nvPr>
        </p:nvSpPr>
        <p:spPr>
          <a:xfrm>
            <a:off x="6296200" y="15886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01" name="Google Shape;201;p30"/>
          <p:cNvSpPr txBox="1"/>
          <p:nvPr>
            <p:ph idx="25" type="body"/>
          </p:nvPr>
        </p:nvSpPr>
        <p:spPr>
          <a:xfrm>
            <a:off x="6296200" y="22065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02" name="Google Shape;202;p30"/>
          <p:cNvSpPr txBox="1"/>
          <p:nvPr>
            <p:ph idx="26" type="body"/>
          </p:nvPr>
        </p:nvSpPr>
        <p:spPr>
          <a:xfrm>
            <a:off x="6296200" y="26355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03" name="Google Shape;203;p30"/>
          <p:cNvSpPr txBox="1"/>
          <p:nvPr>
            <p:ph idx="27" type="body"/>
          </p:nvPr>
        </p:nvSpPr>
        <p:spPr>
          <a:xfrm>
            <a:off x="6296200" y="29037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04" name="Google Shape;204;p30"/>
          <p:cNvSpPr txBox="1"/>
          <p:nvPr>
            <p:ph idx="28" type="body"/>
          </p:nvPr>
        </p:nvSpPr>
        <p:spPr>
          <a:xfrm>
            <a:off x="6296200" y="343340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05" name="Google Shape;205;p30"/>
          <p:cNvSpPr txBox="1"/>
          <p:nvPr>
            <p:ph idx="29" type="body"/>
          </p:nvPr>
        </p:nvSpPr>
        <p:spPr>
          <a:xfrm>
            <a:off x="6296200" y="38624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06" name="Google Shape;206;p30"/>
          <p:cNvSpPr txBox="1"/>
          <p:nvPr>
            <p:ph idx="30" type="body"/>
          </p:nvPr>
        </p:nvSpPr>
        <p:spPr>
          <a:xfrm>
            <a:off x="6296200" y="41306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07" name="Google Shape;207;p30"/>
          <p:cNvSpPr txBox="1"/>
          <p:nvPr>
            <p:ph idx="31" type="body"/>
          </p:nvPr>
        </p:nvSpPr>
        <p:spPr>
          <a:xfrm>
            <a:off x="196951" y="196725"/>
            <a:ext cx="18606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08" name="Google Shape;208;p30"/>
          <p:cNvSpPr txBox="1"/>
          <p:nvPr>
            <p:ph idx="32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blank">
  <p:cSld name="CUSTOM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1" name="Google Shape;211;p31"/>
          <p:cNvSpPr txBox="1"/>
          <p:nvPr>
            <p:ph idx="1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2" name="Google Shape;212;p31"/>
          <p:cNvSpPr txBox="1"/>
          <p:nvPr>
            <p:ph idx="2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theme" Target="../theme/theme2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17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●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DM Sans"/>
              <a:buChar char="○"/>
              <a:defRPr sz="8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■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●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○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■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●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○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■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24">
          <p15:clr>
            <a:srgbClr val="E46962"/>
          </p15:clr>
        </p15:guide>
        <p15:guide id="2" orient="horz" pos="124">
          <p15:clr>
            <a:srgbClr val="E46962"/>
          </p15:clr>
        </p15:guide>
        <p15:guide id="3" pos="5636">
          <p15:clr>
            <a:srgbClr val="E46962"/>
          </p15:clr>
        </p15:guide>
        <p15:guide id="4" orient="horz" pos="3116">
          <p15:clr>
            <a:srgbClr val="E46962"/>
          </p15:clr>
        </p15:guide>
        <p15:guide id="5" pos="1296">
          <p15:clr>
            <a:srgbClr val="E46962"/>
          </p15:clr>
        </p15:guide>
        <p15:guide id="6" pos="4465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2"/>
          <p:cNvSpPr txBox="1"/>
          <p:nvPr>
            <p:ph type="ctrTitle"/>
          </p:nvPr>
        </p:nvSpPr>
        <p:spPr>
          <a:xfrm>
            <a:off x="566100" y="294150"/>
            <a:ext cx="8011800" cy="18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4250"/>
              <a:t>Institutional Predictors of First-Year Student Retention in U.S. Higher Education</a:t>
            </a:r>
            <a:endParaRPr sz="42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42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250"/>
          </a:p>
        </p:txBody>
      </p:sp>
      <p:sp>
        <p:nvSpPr>
          <p:cNvPr id="218" name="Google Shape;218;p32"/>
          <p:cNvSpPr txBox="1"/>
          <p:nvPr>
            <p:ph idx="2" type="subTitle"/>
          </p:nvPr>
        </p:nvSpPr>
        <p:spPr>
          <a:xfrm>
            <a:off x="585300" y="2171250"/>
            <a:ext cx="3986700" cy="5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Keith Willson</a:t>
            </a:r>
            <a:endParaRPr/>
          </a:p>
        </p:txBody>
      </p:sp>
      <p:pic>
        <p:nvPicPr>
          <p:cNvPr descr="Stunning architecture (Provided by Getty Images)" id="219" name="Google Shape;21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6801" y="2571750"/>
            <a:ext cx="5467853" cy="2111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5" name="Google Shape;225;p33"/>
          <p:cNvSpPr txBox="1"/>
          <p:nvPr>
            <p:ph idx="1" type="subTitle"/>
          </p:nvPr>
        </p:nvSpPr>
        <p:spPr>
          <a:xfrm>
            <a:off x="861175" y="736575"/>
            <a:ext cx="2534100" cy="5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Keith Willson</a:t>
            </a:r>
            <a:endParaRPr/>
          </a:p>
        </p:txBody>
      </p:sp>
      <p:sp>
        <p:nvSpPr>
          <p:cNvPr id="226" name="Google Shape;226;p33"/>
          <p:cNvSpPr txBox="1"/>
          <p:nvPr/>
        </p:nvSpPr>
        <p:spPr>
          <a:xfrm>
            <a:off x="700100" y="1711650"/>
            <a:ext cx="72375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erriweather"/>
              <a:buChar char="●"/>
            </a:pPr>
            <a:r>
              <a:rPr lang="en" sz="16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Bachelors of Arts, Psychology</a:t>
            </a:r>
            <a:endParaRPr sz="160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30200" lvl="1" marL="9144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erriweather"/>
              <a:buChar char="○"/>
            </a:pPr>
            <a:r>
              <a:rPr lang="en" sz="16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UC Merced Class of 2015</a:t>
            </a:r>
            <a:endParaRPr sz="160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30200" lvl="1" marL="9144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erriweather"/>
              <a:buChar char="○"/>
            </a:pPr>
            <a:r>
              <a:rPr lang="en" sz="16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Psychology and Cognitive Science Researcher</a:t>
            </a:r>
            <a:endParaRPr sz="160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erriweather"/>
              <a:buChar char="●"/>
            </a:pPr>
            <a:r>
              <a:rPr lang="en" sz="16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Pursuing M.S. Data Analytics: Decision Process Engineering</a:t>
            </a:r>
            <a:endParaRPr sz="160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30200" lvl="1" marL="9144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erriweather"/>
              <a:buChar char="○"/>
            </a:pPr>
            <a:r>
              <a:rPr lang="en" sz="16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 Western Governors University</a:t>
            </a:r>
            <a:endParaRPr sz="160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erriweather"/>
              <a:buChar char="●"/>
            </a:pPr>
            <a:r>
              <a:rPr lang="en" sz="16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Admissions Director</a:t>
            </a:r>
            <a:endParaRPr sz="160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30200" lvl="1" marL="914400" rtl="0" algn="l"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600"/>
              <a:buFont typeface="Merriweather"/>
              <a:buChar char="○"/>
            </a:pPr>
            <a:r>
              <a:rPr lang="en" sz="16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Hilldale School in Daly City, CA</a:t>
            </a:r>
            <a:endParaRPr sz="160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4"/>
          <p:cNvSpPr txBox="1"/>
          <p:nvPr>
            <p:ph type="title"/>
          </p:nvPr>
        </p:nvSpPr>
        <p:spPr>
          <a:xfrm>
            <a:off x="370700" y="659300"/>
            <a:ext cx="3373200" cy="87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50"/>
              <a:t>What’s the deal with student retention?</a:t>
            </a:r>
            <a:endParaRPr sz="2450"/>
          </a:p>
        </p:txBody>
      </p:sp>
      <p:sp>
        <p:nvSpPr>
          <p:cNvPr id="232" name="Google Shape;232;p34"/>
          <p:cNvSpPr txBox="1"/>
          <p:nvPr>
            <p:ph type="title"/>
          </p:nvPr>
        </p:nvSpPr>
        <p:spPr>
          <a:xfrm>
            <a:off x="5331875" y="659300"/>
            <a:ext cx="2954100" cy="87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50">
                <a:solidFill>
                  <a:schemeClr val="lt1"/>
                </a:solidFill>
              </a:rPr>
              <a:t>Why does student retention matter?</a:t>
            </a:r>
            <a:endParaRPr sz="2450">
              <a:solidFill>
                <a:schemeClr val="lt1"/>
              </a:solidFill>
            </a:endParaRPr>
          </a:p>
        </p:txBody>
      </p:sp>
      <p:sp>
        <p:nvSpPr>
          <p:cNvPr id="233" name="Google Shape;233;p34"/>
          <p:cNvSpPr txBox="1"/>
          <p:nvPr/>
        </p:nvSpPr>
        <p:spPr>
          <a:xfrm>
            <a:off x="77150" y="1763225"/>
            <a:ext cx="3960300" cy="25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DM Sans"/>
              <a:buChar char="●"/>
            </a:pPr>
            <a:r>
              <a:rPr lang="en" sz="15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Retention is the percentage of first-year students who continue on to their second year at a given university.</a:t>
            </a:r>
            <a:endParaRPr sz="15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DM Sans"/>
              <a:buChar char="●"/>
            </a:pPr>
            <a:r>
              <a:rPr lang="en" sz="15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Average retention rates in the United States in 2024:</a:t>
            </a:r>
            <a:endParaRPr sz="15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DM Sans"/>
              <a:buChar char="○"/>
            </a:pPr>
            <a:r>
              <a:rPr lang="en" sz="15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Full-time students: </a:t>
            </a:r>
            <a:r>
              <a:rPr b="1" lang="en" sz="19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76.2%</a:t>
            </a:r>
            <a:endParaRPr b="1" sz="19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1" marL="914400" rtl="0" algn="l"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1500"/>
              <a:buFont typeface="DM Sans"/>
              <a:buChar char="○"/>
            </a:pPr>
            <a:r>
              <a:rPr lang="en" sz="15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Part-time students: </a:t>
            </a:r>
            <a:r>
              <a:rPr b="1" lang="en" sz="19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47%</a:t>
            </a:r>
            <a:endParaRPr b="1" sz="19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4" name="Google Shape;234;p34"/>
          <p:cNvSpPr txBox="1"/>
          <p:nvPr/>
        </p:nvSpPr>
        <p:spPr>
          <a:xfrm>
            <a:off x="4700575" y="1763225"/>
            <a:ext cx="3960300" cy="27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DM Sans"/>
              <a:buChar char="●"/>
            </a:pPr>
            <a:r>
              <a:rPr lang="en" sz="1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Lost potential revenue from the next three year’s tuition</a:t>
            </a:r>
            <a:endParaRPr sz="15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DM Sans"/>
              <a:buChar char="●"/>
            </a:pPr>
            <a:r>
              <a:rPr lang="en" sz="1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Attrition lowers return on investment from money spent on recruitment</a:t>
            </a:r>
            <a:endParaRPr sz="15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DM Sans"/>
              <a:buChar char="●"/>
            </a:pPr>
            <a:r>
              <a:rPr lang="en" sz="1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Low retention hampers recruitment</a:t>
            </a:r>
            <a:endParaRPr sz="15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DM Sans"/>
              <a:buChar char="●"/>
            </a:pPr>
            <a:r>
              <a:rPr lang="en" sz="1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Students waste money on a year’s worth of tuition</a:t>
            </a:r>
            <a:endParaRPr sz="15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500"/>
              <a:buFont typeface="DM Sans"/>
              <a:buChar char="●"/>
            </a:pPr>
            <a:r>
              <a:rPr lang="en" sz="1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Government budgets for college expenses through Pell grant</a:t>
            </a:r>
            <a:endParaRPr sz="15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5"/>
          <p:cNvSpPr txBox="1"/>
          <p:nvPr>
            <p:ph type="title"/>
          </p:nvPr>
        </p:nvSpPr>
        <p:spPr>
          <a:xfrm>
            <a:off x="267800" y="754375"/>
            <a:ext cx="3767700" cy="50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50"/>
              <a:t>What drives retention?</a:t>
            </a:r>
            <a:endParaRPr sz="2450"/>
          </a:p>
        </p:txBody>
      </p:sp>
      <p:sp>
        <p:nvSpPr>
          <p:cNvPr id="240" name="Google Shape;240;p35"/>
          <p:cNvSpPr txBox="1"/>
          <p:nvPr>
            <p:ph type="title"/>
          </p:nvPr>
        </p:nvSpPr>
        <p:spPr>
          <a:xfrm>
            <a:off x="4774775" y="754375"/>
            <a:ext cx="4046400" cy="50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50">
                <a:solidFill>
                  <a:schemeClr val="lt1"/>
                </a:solidFill>
              </a:rPr>
              <a:t>Purpose of this analysis</a:t>
            </a:r>
            <a:endParaRPr sz="2450">
              <a:solidFill>
                <a:schemeClr val="lt1"/>
              </a:solidFill>
            </a:endParaRPr>
          </a:p>
        </p:txBody>
      </p:sp>
      <p:sp>
        <p:nvSpPr>
          <p:cNvPr id="241" name="Google Shape;241;p35"/>
          <p:cNvSpPr txBox="1"/>
          <p:nvPr/>
        </p:nvSpPr>
        <p:spPr>
          <a:xfrm>
            <a:off x="370700" y="1536500"/>
            <a:ext cx="3664800" cy="31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 u="sng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Known student-based factors</a:t>
            </a:r>
            <a:endParaRPr b="1" sz="1500" u="sng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DM Sans"/>
              <a:buChar char="●"/>
            </a:pPr>
            <a:r>
              <a:rPr lang="en" sz="15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GPA</a:t>
            </a:r>
            <a:endParaRPr sz="15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DM Sans"/>
              <a:buChar char="●"/>
            </a:pPr>
            <a:r>
              <a:rPr lang="en" sz="15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On-campus housing status</a:t>
            </a:r>
            <a:endParaRPr sz="15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DM Sans"/>
              <a:buChar char="●"/>
            </a:pPr>
            <a:r>
              <a:rPr lang="en" sz="15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Sense of belonging</a:t>
            </a:r>
            <a:endParaRPr sz="15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DM Sans"/>
              <a:buChar char="●"/>
            </a:pPr>
            <a:r>
              <a:rPr lang="en" sz="15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I</a:t>
            </a:r>
            <a:r>
              <a:rPr lang="en" sz="15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nstitutional social responsibility</a:t>
            </a:r>
            <a:endParaRPr sz="15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DM Sans"/>
              <a:buChar char="●"/>
            </a:pPr>
            <a:r>
              <a:rPr lang="en" sz="15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Student loyalty</a:t>
            </a:r>
            <a:endParaRPr sz="15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500" u="sng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Known institutional factors</a:t>
            </a:r>
            <a:endParaRPr b="1" sz="1500" u="sng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DM Sans"/>
              <a:buChar char="●"/>
            </a:pPr>
            <a:r>
              <a:rPr lang="en" sz="15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Selectivity</a:t>
            </a:r>
            <a:endParaRPr sz="15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DM Sans"/>
              <a:buChar char="●"/>
            </a:pPr>
            <a:r>
              <a:rPr lang="en" sz="15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Governance structure</a:t>
            </a:r>
            <a:endParaRPr sz="15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DM Sans"/>
              <a:buChar char="○"/>
            </a:pPr>
            <a:r>
              <a:rPr lang="en" sz="15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For-profit, non-profit, religious, etc.</a:t>
            </a:r>
            <a:endParaRPr sz="15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2" name="Google Shape;242;p35"/>
          <p:cNvSpPr txBox="1"/>
          <p:nvPr/>
        </p:nvSpPr>
        <p:spPr>
          <a:xfrm>
            <a:off x="4668425" y="1536500"/>
            <a:ext cx="3960300" cy="3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DM Sans"/>
              <a:buChar char="●"/>
            </a:pPr>
            <a:r>
              <a:rPr lang="en" sz="1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To provide institutions with information to actively improve their retention outcomes</a:t>
            </a:r>
            <a:endParaRPr sz="15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DM Sans"/>
              <a:buChar char="●"/>
            </a:pPr>
            <a:r>
              <a:rPr lang="en" sz="1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To develop two regression models that identify significant institutional predictors of retention for part-time and full-time students</a:t>
            </a:r>
            <a:endParaRPr sz="15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DM Sans"/>
              <a:buChar char="●"/>
            </a:pPr>
            <a:r>
              <a:rPr lang="en" sz="1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H</a:t>
            </a:r>
            <a:r>
              <a:rPr baseline="-25000" lang="en" sz="1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0</a:t>
            </a:r>
            <a:r>
              <a:rPr lang="en" sz="1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: There are no institutional factors that significantly influence retention</a:t>
            </a:r>
            <a:endParaRPr sz="15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500"/>
              <a:buFont typeface="DM Sans"/>
              <a:buChar char="●"/>
            </a:pPr>
            <a:r>
              <a:rPr lang="en" sz="1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H</a:t>
            </a:r>
            <a:r>
              <a:rPr baseline="-25000" i="1" lang="en" sz="1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lang="en" sz="1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: There are one or more institutional factors that significantly influence retention</a:t>
            </a:r>
            <a:endParaRPr sz="15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8" name="Google Shape;248;p36"/>
          <p:cNvSpPr txBox="1"/>
          <p:nvPr>
            <p:ph idx="1" type="subTitle"/>
          </p:nvPr>
        </p:nvSpPr>
        <p:spPr>
          <a:xfrm>
            <a:off x="861175" y="736575"/>
            <a:ext cx="5511000" cy="5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How do we analyze retention?</a:t>
            </a:r>
            <a:endParaRPr/>
          </a:p>
        </p:txBody>
      </p:sp>
      <p:sp>
        <p:nvSpPr>
          <p:cNvPr id="249" name="Google Shape;249;p36"/>
          <p:cNvSpPr txBox="1"/>
          <p:nvPr/>
        </p:nvSpPr>
        <p:spPr>
          <a:xfrm>
            <a:off x="861175" y="1507550"/>
            <a:ext cx="7237500" cy="30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DM Sans"/>
              <a:buChar char="●"/>
            </a:pPr>
            <a:r>
              <a:rPr lang="en" sz="1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Data provided by Integrated Postsecondary Education Data System (IPEDS), hosted by National Center for Education </a:t>
            </a:r>
            <a:r>
              <a:rPr lang="en" sz="1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Statistics</a:t>
            </a:r>
            <a:r>
              <a:rPr lang="en" sz="1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(NCES)</a:t>
            </a:r>
            <a:endParaRPr sz="15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1" marL="9144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DM Sans"/>
              <a:buChar char="○"/>
            </a:pPr>
            <a:r>
              <a:rPr lang="en" sz="1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Annual survey data from every postsecondary U.S. institution that participates in federal student financial aid programs</a:t>
            </a:r>
            <a:endParaRPr sz="15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1" marL="9144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DM Sans"/>
              <a:buChar char="○"/>
            </a:pPr>
            <a:r>
              <a:rPr lang="en" sz="1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23-24 school year, most recent data publicly available</a:t>
            </a:r>
            <a:endParaRPr sz="15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DM Sans"/>
              <a:buChar char="●"/>
            </a:pPr>
            <a:r>
              <a:rPr lang="en" sz="1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Variables most relevant to institutions hand-picked from datasets, cleaned, prepared, and standardized in Python</a:t>
            </a:r>
            <a:endParaRPr sz="15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500"/>
              <a:buFont typeface="DM Sans"/>
              <a:buChar char="●"/>
            </a:pPr>
            <a:r>
              <a:rPr lang="en" sz="1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Ordinary Least Squares regression model </a:t>
            </a:r>
            <a:r>
              <a:rPr lang="en" sz="1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created in Python, finding the best-fit line by minimizing sum of squared differences between predicted and actual retention rates</a:t>
            </a:r>
            <a:endParaRPr sz="15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5" name="Google Shape;255;p37"/>
          <p:cNvSpPr txBox="1"/>
          <p:nvPr>
            <p:ph idx="1" type="subTitle"/>
          </p:nvPr>
        </p:nvSpPr>
        <p:spPr>
          <a:xfrm>
            <a:off x="861175" y="736575"/>
            <a:ext cx="5511000" cy="5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How do we analyze retention?</a:t>
            </a:r>
            <a:endParaRPr/>
          </a:p>
        </p:txBody>
      </p:sp>
      <p:sp>
        <p:nvSpPr>
          <p:cNvPr id="256" name="Google Shape;256;p37"/>
          <p:cNvSpPr txBox="1"/>
          <p:nvPr/>
        </p:nvSpPr>
        <p:spPr>
          <a:xfrm>
            <a:off x="861175" y="1507550"/>
            <a:ext cx="7237500" cy="21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DM Sans"/>
              <a:buChar char="●"/>
            </a:pPr>
            <a:r>
              <a:rPr lang="en" sz="1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Models refined until most robust model found</a:t>
            </a:r>
            <a:endParaRPr sz="15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1" marL="9144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DM Sans"/>
              <a:buChar char="○"/>
            </a:pPr>
            <a:r>
              <a:rPr lang="en" sz="1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Variables removed due to collinearity with other variables or lack of significance</a:t>
            </a:r>
            <a:endParaRPr sz="15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2" marL="13716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DM Sans"/>
              <a:buChar char="■"/>
            </a:pPr>
            <a:r>
              <a:rPr lang="en" sz="1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p-values &lt; .10 accepted for these models to emphasize identification of predictors over predictive accuracy</a:t>
            </a:r>
            <a:endParaRPr sz="15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500"/>
              <a:buFont typeface="DM Sans"/>
              <a:buChar char="●"/>
            </a:pPr>
            <a:r>
              <a:rPr lang="en" sz="1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R</a:t>
            </a:r>
            <a:r>
              <a:rPr baseline="30000" lang="en" sz="1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2</a:t>
            </a:r>
            <a:r>
              <a:rPr lang="en" sz="1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and Root-Mean-Squared Error (RMSE) calculated to evaluate model accuracy</a:t>
            </a:r>
            <a:endParaRPr sz="15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2" name="Google Shape;262;p38"/>
          <p:cNvSpPr txBox="1"/>
          <p:nvPr>
            <p:ph idx="1" type="subTitle"/>
          </p:nvPr>
        </p:nvSpPr>
        <p:spPr>
          <a:xfrm>
            <a:off x="861175" y="339250"/>
            <a:ext cx="5511000" cy="5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How accurate are the models?</a:t>
            </a:r>
            <a:endParaRPr/>
          </a:p>
        </p:txBody>
      </p:sp>
      <p:sp>
        <p:nvSpPr>
          <p:cNvPr id="263" name="Google Shape;263;p38"/>
          <p:cNvSpPr txBox="1"/>
          <p:nvPr/>
        </p:nvSpPr>
        <p:spPr>
          <a:xfrm>
            <a:off x="861188" y="1013600"/>
            <a:ext cx="7237500" cy="14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DM Sans"/>
              <a:buChar char="●"/>
            </a:pPr>
            <a:r>
              <a:rPr lang="en" sz="1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Full-time </a:t>
            </a:r>
            <a:r>
              <a:rPr b="1" lang="en" sz="1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R</a:t>
            </a:r>
            <a:r>
              <a:rPr b="1" baseline="30000" lang="en" sz="1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2</a:t>
            </a:r>
            <a:r>
              <a:rPr b="1" lang="en" sz="1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: 0.413</a:t>
            </a:r>
            <a:r>
              <a:rPr lang="en" sz="1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- the model explains roughly </a:t>
            </a:r>
            <a:r>
              <a:rPr b="1" lang="en" sz="1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42%</a:t>
            </a:r>
            <a:r>
              <a:rPr lang="en" sz="1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of retention variance</a:t>
            </a:r>
            <a:endParaRPr sz="15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DM Sans"/>
              <a:buChar char="●"/>
            </a:pPr>
            <a:r>
              <a:rPr lang="en" sz="1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Full-time </a:t>
            </a:r>
            <a:r>
              <a:rPr b="1" lang="en" sz="1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RMSE: 9.153</a:t>
            </a:r>
            <a:r>
              <a:rPr lang="en" sz="1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- average prediction will be off by about </a:t>
            </a:r>
            <a:r>
              <a:rPr b="1" lang="en" sz="1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9%</a:t>
            </a:r>
            <a:endParaRPr b="1" sz="15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DM Sans"/>
              <a:buChar char="○"/>
            </a:pPr>
            <a:r>
              <a:rPr lang="en" sz="1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Good accuracy for a social science model</a:t>
            </a:r>
            <a:endParaRPr sz="15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DM Sans"/>
              <a:buChar char="●"/>
            </a:pPr>
            <a:r>
              <a:rPr lang="en" sz="1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Part-time </a:t>
            </a:r>
            <a:r>
              <a:rPr b="1" lang="en" sz="1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R</a:t>
            </a:r>
            <a:r>
              <a:rPr b="1" baseline="30000" lang="en" sz="1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2</a:t>
            </a:r>
            <a:r>
              <a:rPr b="1" lang="en" sz="1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: -0.001 </a:t>
            </a:r>
            <a:r>
              <a:rPr lang="en" sz="1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- the model fails to explain any retention variance</a:t>
            </a:r>
            <a:endParaRPr sz="15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DM Sans"/>
              <a:buChar char="●"/>
            </a:pPr>
            <a:r>
              <a:rPr lang="en" sz="1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Part-time </a:t>
            </a:r>
            <a:r>
              <a:rPr b="1" lang="en" sz="1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RMSE: 31.483</a:t>
            </a:r>
            <a:r>
              <a:rPr lang="en" sz="1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- average prediction will be off by about </a:t>
            </a:r>
            <a:r>
              <a:rPr b="1" lang="en" sz="1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31%</a:t>
            </a:r>
            <a:endParaRPr b="1" sz="15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64" name="Google Shape;264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2238" y="2562750"/>
            <a:ext cx="5395428" cy="2291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9"/>
          <p:cNvSpPr txBox="1"/>
          <p:nvPr>
            <p:ph type="title"/>
          </p:nvPr>
        </p:nvSpPr>
        <p:spPr>
          <a:xfrm>
            <a:off x="395700" y="196450"/>
            <a:ext cx="3615900" cy="112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50"/>
              <a:t>What drives UP retention for full-time students?</a:t>
            </a:r>
            <a:endParaRPr sz="2450"/>
          </a:p>
        </p:txBody>
      </p:sp>
      <p:sp>
        <p:nvSpPr>
          <p:cNvPr id="270" name="Google Shape;270;p39"/>
          <p:cNvSpPr txBox="1"/>
          <p:nvPr/>
        </p:nvSpPr>
        <p:spPr>
          <a:xfrm>
            <a:off x="225000" y="1373650"/>
            <a:ext cx="3786600" cy="28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 u="sng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Accepting college-ready students</a:t>
            </a:r>
            <a:endParaRPr b="1" sz="1500" u="sng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DM Sans"/>
              <a:buChar char="●"/>
            </a:pPr>
            <a:r>
              <a:rPr lang="en" sz="15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Higher retention among schools with higher SAT submission rate likely speaks to the kinds of students being accepted. </a:t>
            </a:r>
            <a:endParaRPr sz="15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DM Sans"/>
              <a:buChar char="●"/>
            </a:pPr>
            <a:r>
              <a:rPr lang="en" sz="15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Students submitting SAT scores more likely to be on a college preparatory path</a:t>
            </a:r>
            <a:endParaRPr sz="15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1500"/>
              <a:buFont typeface="DM Sans"/>
              <a:buChar char="●"/>
            </a:pPr>
            <a:r>
              <a:rPr lang="en" sz="15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Consistent with previous GPA finding</a:t>
            </a:r>
            <a:endParaRPr sz="15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71" name="Google Shape;271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35225" y="968950"/>
            <a:ext cx="4759625" cy="30351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2" name="Google Shape;272;p39"/>
          <p:cNvCxnSpPr/>
          <p:nvPr/>
        </p:nvCxnSpPr>
        <p:spPr>
          <a:xfrm>
            <a:off x="4896050" y="3006350"/>
            <a:ext cx="1040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3" name="Google Shape;273;p39"/>
          <p:cNvCxnSpPr/>
          <p:nvPr/>
        </p:nvCxnSpPr>
        <p:spPr>
          <a:xfrm rot="10800000">
            <a:off x="6820225" y="2966850"/>
            <a:ext cx="178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0"/>
          <p:cNvSpPr txBox="1"/>
          <p:nvPr>
            <p:ph type="title"/>
          </p:nvPr>
        </p:nvSpPr>
        <p:spPr>
          <a:xfrm>
            <a:off x="395700" y="196450"/>
            <a:ext cx="3615900" cy="112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50"/>
              <a:t>What drives UP retention for full-time students?</a:t>
            </a:r>
            <a:endParaRPr sz="2450"/>
          </a:p>
        </p:txBody>
      </p:sp>
      <p:sp>
        <p:nvSpPr>
          <p:cNvPr id="279" name="Google Shape;279;p40"/>
          <p:cNvSpPr txBox="1"/>
          <p:nvPr/>
        </p:nvSpPr>
        <p:spPr>
          <a:xfrm>
            <a:off x="197375" y="1383175"/>
            <a:ext cx="37866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 u="sng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Being a larger school</a:t>
            </a:r>
            <a:endParaRPr b="1" sz="1500" u="sng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DM Sans"/>
              <a:buChar char="●"/>
            </a:pPr>
            <a:r>
              <a:rPr lang="en" sz="15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More diverse course offerings</a:t>
            </a:r>
            <a:endParaRPr sz="15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DM Sans"/>
              <a:buChar char="●"/>
            </a:pPr>
            <a:r>
              <a:rPr lang="en" sz="15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More social infrastructure</a:t>
            </a:r>
            <a:endParaRPr sz="15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DM Sans"/>
              <a:buChar char="●"/>
            </a:pPr>
            <a:r>
              <a:rPr lang="en" sz="15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Name recognition</a:t>
            </a:r>
            <a:endParaRPr sz="15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DM Sans"/>
              <a:buChar char="●"/>
            </a:pPr>
            <a:r>
              <a:rPr lang="en" sz="15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Prestige</a:t>
            </a:r>
            <a:endParaRPr sz="15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DM Sans"/>
              <a:buChar char="●"/>
            </a:pPr>
            <a:r>
              <a:rPr lang="en" sz="15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Age - more time to build population, prestige, and resources</a:t>
            </a:r>
            <a:endParaRPr sz="15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1500"/>
              <a:buFont typeface="DM Sans"/>
              <a:buChar char="●"/>
            </a:pPr>
            <a:r>
              <a:rPr lang="en" sz="15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Having more full-time students, more likely to stay than part-time students</a:t>
            </a:r>
            <a:endParaRPr sz="15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80" name="Google Shape;280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35225" y="968950"/>
            <a:ext cx="4759625" cy="30351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1" name="Google Shape;281;p40"/>
          <p:cNvCxnSpPr/>
          <p:nvPr/>
        </p:nvCxnSpPr>
        <p:spPr>
          <a:xfrm>
            <a:off x="5177750" y="1932100"/>
            <a:ext cx="727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2" name="Google Shape;282;p40"/>
          <p:cNvCxnSpPr/>
          <p:nvPr/>
        </p:nvCxnSpPr>
        <p:spPr>
          <a:xfrm>
            <a:off x="4958700" y="2201800"/>
            <a:ext cx="948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3" name="Google Shape;283;p40"/>
          <p:cNvCxnSpPr/>
          <p:nvPr/>
        </p:nvCxnSpPr>
        <p:spPr>
          <a:xfrm>
            <a:off x="4766075" y="3279175"/>
            <a:ext cx="1141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4" name="Google Shape;284;p40"/>
          <p:cNvCxnSpPr/>
          <p:nvPr/>
        </p:nvCxnSpPr>
        <p:spPr>
          <a:xfrm rot="10800000">
            <a:off x="7187200" y="1871025"/>
            <a:ext cx="178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5" name="Google Shape;285;p40"/>
          <p:cNvCxnSpPr/>
          <p:nvPr/>
        </p:nvCxnSpPr>
        <p:spPr>
          <a:xfrm rot="10800000">
            <a:off x="7053400" y="2148625"/>
            <a:ext cx="178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6" name="Google Shape;286;p40"/>
          <p:cNvCxnSpPr/>
          <p:nvPr/>
        </p:nvCxnSpPr>
        <p:spPr>
          <a:xfrm rot="10800000">
            <a:off x="6798875" y="3223125"/>
            <a:ext cx="178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1"/>
          <p:cNvSpPr txBox="1"/>
          <p:nvPr>
            <p:ph type="title"/>
          </p:nvPr>
        </p:nvSpPr>
        <p:spPr>
          <a:xfrm>
            <a:off x="395700" y="196450"/>
            <a:ext cx="3615900" cy="112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50"/>
              <a:t>What drives UP retention for full-time students?</a:t>
            </a:r>
            <a:endParaRPr sz="2450"/>
          </a:p>
        </p:txBody>
      </p:sp>
      <p:sp>
        <p:nvSpPr>
          <p:cNvPr id="292" name="Google Shape;292;p41"/>
          <p:cNvSpPr txBox="1"/>
          <p:nvPr/>
        </p:nvSpPr>
        <p:spPr>
          <a:xfrm>
            <a:off x="197375" y="1368800"/>
            <a:ext cx="3786600" cy="36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 u="sng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Having more resources</a:t>
            </a:r>
            <a:endParaRPr b="1" sz="1500" u="sng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DM Sans"/>
              <a:buChar char="●"/>
            </a:pPr>
            <a:r>
              <a:rPr lang="en" sz="15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Likely </a:t>
            </a:r>
            <a:r>
              <a:rPr b="1" lang="en" sz="15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not</a:t>
            </a:r>
            <a:r>
              <a:rPr lang="en" sz="15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 “having more students with disabilities = higher retention.”</a:t>
            </a:r>
            <a:endParaRPr sz="15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DM Sans"/>
              <a:buChar char="●"/>
            </a:pPr>
            <a:r>
              <a:rPr lang="en" sz="15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Likely </a:t>
            </a:r>
            <a:r>
              <a:rPr b="1" lang="en" sz="15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is </a:t>
            </a:r>
            <a:r>
              <a:rPr lang="en" sz="15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about schools with resources to accommodate students with disabilities</a:t>
            </a:r>
            <a:endParaRPr sz="15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DM Sans"/>
              <a:buChar char="●"/>
            </a:pPr>
            <a:r>
              <a:rPr lang="en" sz="15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% Students with disabilities correlates with higher tuition,  institutional grant avg (r = ~0.5)</a:t>
            </a:r>
            <a:endParaRPr sz="15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1500"/>
              <a:buFont typeface="DM Sans"/>
              <a:buChar char="●"/>
            </a:pPr>
            <a:r>
              <a:rPr lang="en" sz="15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Minor correlation with study abroad programs and undergrad research opportunities = better return-on-investment for students</a:t>
            </a:r>
            <a:endParaRPr sz="15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93" name="Google Shape;293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35225" y="968950"/>
            <a:ext cx="4759625" cy="30351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4" name="Google Shape;294;p41"/>
          <p:cNvCxnSpPr/>
          <p:nvPr/>
        </p:nvCxnSpPr>
        <p:spPr>
          <a:xfrm>
            <a:off x="4521200" y="2751825"/>
            <a:ext cx="1391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5" name="Google Shape;295;p41"/>
          <p:cNvCxnSpPr/>
          <p:nvPr/>
        </p:nvCxnSpPr>
        <p:spPr>
          <a:xfrm>
            <a:off x="4418150" y="1658550"/>
            <a:ext cx="1494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6" name="Google Shape;296;p41"/>
          <p:cNvCxnSpPr/>
          <p:nvPr/>
        </p:nvCxnSpPr>
        <p:spPr>
          <a:xfrm rot="10800000">
            <a:off x="7944875" y="1604050"/>
            <a:ext cx="178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7" name="Google Shape;297;p41"/>
          <p:cNvCxnSpPr/>
          <p:nvPr/>
        </p:nvCxnSpPr>
        <p:spPr>
          <a:xfrm rot="10800000">
            <a:off x="6873000" y="2682600"/>
            <a:ext cx="178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2"/>
          <p:cNvSpPr txBox="1"/>
          <p:nvPr>
            <p:ph type="title"/>
          </p:nvPr>
        </p:nvSpPr>
        <p:spPr>
          <a:xfrm>
            <a:off x="395700" y="196450"/>
            <a:ext cx="3615900" cy="112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50"/>
              <a:t>What drives UP retention for full-time students?</a:t>
            </a:r>
            <a:endParaRPr sz="2450"/>
          </a:p>
        </p:txBody>
      </p:sp>
      <p:sp>
        <p:nvSpPr>
          <p:cNvPr id="303" name="Google Shape;303;p42"/>
          <p:cNvSpPr txBox="1"/>
          <p:nvPr/>
        </p:nvSpPr>
        <p:spPr>
          <a:xfrm>
            <a:off x="197375" y="1368800"/>
            <a:ext cx="3786600" cy="3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 u="sng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Giving students more money</a:t>
            </a:r>
            <a:endParaRPr b="1" sz="1500" u="sng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DM Sans"/>
              <a:buChar char="●"/>
            </a:pPr>
            <a:r>
              <a:rPr lang="en" sz="15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Providing students with the means to afford college is the biggest positive contributor to retention</a:t>
            </a:r>
            <a:endParaRPr sz="15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DM Sans"/>
              <a:buChar char="●"/>
            </a:pPr>
            <a:r>
              <a:rPr lang="en" sz="15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Higher institutional grant amounts = higher retention</a:t>
            </a:r>
            <a:endParaRPr sz="15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DM Sans"/>
              <a:buChar char="○"/>
            </a:pPr>
            <a:r>
              <a:rPr lang="en" sz="15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Note: institutional grant avg highly correlates with tuition price (r = .93).</a:t>
            </a:r>
            <a:endParaRPr sz="15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1500"/>
              <a:buFont typeface="DM Sans"/>
              <a:buChar char="●"/>
            </a:pPr>
            <a:r>
              <a:rPr lang="en" sz="15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Higher Pell grant amounts and loan amounts also drive up retention to a lesser extent</a:t>
            </a:r>
            <a:endParaRPr sz="15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304" name="Google Shape;304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35225" y="968950"/>
            <a:ext cx="4759625" cy="30351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5" name="Google Shape;305;p42"/>
          <p:cNvCxnSpPr/>
          <p:nvPr/>
        </p:nvCxnSpPr>
        <p:spPr>
          <a:xfrm>
            <a:off x="4388175" y="1394925"/>
            <a:ext cx="1520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6" name="Google Shape;306;p42"/>
          <p:cNvCxnSpPr/>
          <p:nvPr/>
        </p:nvCxnSpPr>
        <p:spPr>
          <a:xfrm>
            <a:off x="4418150" y="1658550"/>
            <a:ext cx="1494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7" name="Google Shape;307;p42"/>
          <p:cNvCxnSpPr/>
          <p:nvPr/>
        </p:nvCxnSpPr>
        <p:spPr>
          <a:xfrm rot="10800000">
            <a:off x="7944875" y="1604050"/>
            <a:ext cx="178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8" name="Google Shape;308;p42"/>
          <p:cNvCxnSpPr/>
          <p:nvPr/>
        </p:nvCxnSpPr>
        <p:spPr>
          <a:xfrm rot="10800000">
            <a:off x="7944875" y="1319950"/>
            <a:ext cx="178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9" name="Google Shape;309;p42"/>
          <p:cNvCxnSpPr/>
          <p:nvPr/>
        </p:nvCxnSpPr>
        <p:spPr>
          <a:xfrm>
            <a:off x="4829775" y="2486525"/>
            <a:ext cx="1078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0" name="Google Shape;310;p42"/>
          <p:cNvCxnSpPr/>
          <p:nvPr/>
        </p:nvCxnSpPr>
        <p:spPr>
          <a:xfrm rot="10800000">
            <a:off x="6931925" y="2416300"/>
            <a:ext cx="178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1" name="Google Shape;311;p42"/>
          <p:cNvCxnSpPr/>
          <p:nvPr/>
        </p:nvCxnSpPr>
        <p:spPr>
          <a:xfrm>
            <a:off x="5089225" y="3559500"/>
            <a:ext cx="82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2" name="Google Shape;312;p42"/>
          <p:cNvCxnSpPr/>
          <p:nvPr/>
        </p:nvCxnSpPr>
        <p:spPr>
          <a:xfrm rot="10800000">
            <a:off x="6657563" y="3494575"/>
            <a:ext cx="178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CCCC"/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3"/>
          <p:cNvSpPr txBox="1"/>
          <p:nvPr>
            <p:ph type="title"/>
          </p:nvPr>
        </p:nvSpPr>
        <p:spPr>
          <a:xfrm>
            <a:off x="395700" y="196450"/>
            <a:ext cx="3615900" cy="112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50"/>
              <a:t>What drives DOWN retention for full-time students?</a:t>
            </a:r>
            <a:endParaRPr sz="2450"/>
          </a:p>
        </p:txBody>
      </p:sp>
      <p:sp>
        <p:nvSpPr>
          <p:cNvPr id="318" name="Google Shape;318;p43"/>
          <p:cNvSpPr txBox="1"/>
          <p:nvPr/>
        </p:nvSpPr>
        <p:spPr>
          <a:xfrm>
            <a:off x="197375" y="1368800"/>
            <a:ext cx="3786600" cy="35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 u="sng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More students needing money</a:t>
            </a:r>
            <a:endParaRPr b="1" sz="1500" u="sng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DM Sans"/>
              <a:buChar char="●"/>
            </a:pPr>
            <a:r>
              <a:rPr lang="en" sz="15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Higher percentages of students requiring government aid and loans drives down retention.</a:t>
            </a:r>
            <a:endParaRPr sz="15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DM Sans"/>
              <a:buChar char="○"/>
            </a:pPr>
            <a:r>
              <a:rPr lang="en" sz="15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The most impactful predictors in the entire model</a:t>
            </a:r>
            <a:endParaRPr sz="15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DM Sans"/>
              <a:buChar char="●"/>
            </a:pPr>
            <a:r>
              <a:rPr lang="en" sz="15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More students given </a:t>
            </a:r>
            <a:r>
              <a:rPr lang="en" sz="15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institutional</a:t>
            </a:r>
            <a:r>
              <a:rPr lang="en" sz="15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 grants also drives it down to a lesser extent</a:t>
            </a:r>
            <a:endParaRPr sz="15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DM Sans"/>
              <a:buChar char="○"/>
            </a:pPr>
            <a:r>
              <a:rPr lang="en" sz="15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Free money vs. need to pay back</a:t>
            </a:r>
            <a:endParaRPr sz="15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1500"/>
              <a:buFont typeface="DM Sans"/>
              <a:buChar char="●"/>
            </a:pPr>
            <a:r>
              <a:rPr lang="en" sz="15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In short: more financially unstable students ruins retention</a:t>
            </a:r>
            <a:endParaRPr sz="15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319" name="Google Shape;319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4325" y="1538125"/>
            <a:ext cx="4492300" cy="18880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0" name="Google Shape;320;p43"/>
          <p:cNvCxnSpPr/>
          <p:nvPr/>
        </p:nvCxnSpPr>
        <p:spPr>
          <a:xfrm rot="10800000">
            <a:off x="4897275" y="1962925"/>
            <a:ext cx="110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1" name="Google Shape;321;p43"/>
          <p:cNvCxnSpPr/>
          <p:nvPr/>
        </p:nvCxnSpPr>
        <p:spPr>
          <a:xfrm rot="10800000">
            <a:off x="4942000" y="2308275"/>
            <a:ext cx="1074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2" name="Google Shape;322;p43"/>
          <p:cNvCxnSpPr/>
          <p:nvPr/>
        </p:nvCxnSpPr>
        <p:spPr>
          <a:xfrm rot="10800000">
            <a:off x="4540700" y="2631350"/>
            <a:ext cx="1459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3" name="Google Shape;323;p43"/>
          <p:cNvCxnSpPr/>
          <p:nvPr/>
        </p:nvCxnSpPr>
        <p:spPr>
          <a:xfrm rot="10800000">
            <a:off x="8673875" y="1901650"/>
            <a:ext cx="167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4" name="Google Shape;324;p43"/>
          <p:cNvCxnSpPr/>
          <p:nvPr/>
        </p:nvCxnSpPr>
        <p:spPr>
          <a:xfrm rot="10800000">
            <a:off x="7845925" y="2237875"/>
            <a:ext cx="167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5" name="Google Shape;325;p43"/>
          <p:cNvCxnSpPr/>
          <p:nvPr/>
        </p:nvCxnSpPr>
        <p:spPr>
          <a:xfrm rot="10800000">
            <a:off x="7212925" y="2571750"/>
            <a:ext cx="167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3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CCCC"/>
        </a:soli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4"/>
          <p:cNvSpPr txBox="1"/>
          <p:nvPr>
            <p:ph type="title"/>
          </p:nvPr>
        </p:nvSpPr>
        <p:spPr>
          <a:xfrm>
            <a:off x="395700" y="196450"/>
            <a:ext cx="3615900" cy="112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50"/>
              <a:t>What drives DOWN retention for full-time students?</a:t>
            </a:r>
            <a:endParaRPr sz="2450"/>
          </a:p>
        </p:txBody>
      </p:sp>
      <p:sp>
        <p:nvSpPr>
          <p:cNvPr id="331" name="Google Shape;331;p44"/>
          <p:cNvSpPr txBox="1"/>
          <p:nvPr/>
        </p:nvSpPr>
        <p:spPr>
          <a:xfrm>
            <a:off x="197375" y="1368800"/>
            <a:ext cx="3786600" cy="22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 u="sng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Evening/weekend Programs</a:t>
            </a:r>
            <a:endParaRPr b="1" sz="1500" u="sng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DM Sans"/>
              <a:buChar char="●"/>
            </a:pPr>
            <a:r>
              <a:rPr lang="en" sz="15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Modest effect, relatively low significance only accepted with relaxed threshold (p = .075).</a:t>
            </a:r>
            <a:endParaRPr sz="15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DM Sans"/>
              <a:buChar char="●"/>
            </a:pPr>
            <a:r>
              <a:rPr lang="en" sz="15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Possibly signals colleges offering courses to accommodate full-time students who can’t attend during day and are stretched thin. </a:t>
            </a:r>
            <a:endParaRPr sz="15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332" name="Google Shape;332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4325" y="1538125"/>
            <a:ext cx="4492300" cy="18880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3" name="Google Shape;333;p44"/>
          <p:cNvCxnSpPr/>
          <p:nvPr/>
        </p:nvCxnSpPr>
        <p:spPr>
          <a:xfrm rot="10800000">
            <a:off x="4752575" y="2965550"/>
            <a:ext cx="1269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4" name="Google Shape;334;p44"/>
          <p:cNvCxnSpPr/>
          <p:nvPr/>
        </p:nvCxnSpPr>
        <p:spPr>
          <a:xfrm rot="10800000">
            <a:off x="6897425" y="2904725"/>
            <a:ext cx="167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0" name="Google Shape;340;p45"/>
          <p:cNvSpPr txBox="1"/>
          <p:nvPr>
            <p:ph idx="1" type="subTitle"/>
          </p:nvPr>
        </p:nvSpPr>
        <p:spPr>
          <a:xfrm>
            <a:off x="1023150" y="489125"/>
            <a:ext cx="7097700" cy="5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Interaction between positive and negative</a:t>
            </a:r>
            <a:endParaRPr/>
          </a:p>
        </p:txBody>
      </p:sp>
      <p:sp>
        <p:nvSpPr>
          <p:cNvPr id="341" name="Google Shape;341;p45"/>
          <p:cNvSpPr txBox="1"/>
          <p:nvPr/>
        </p:nvSpPr>
        <p:spPr>
          <a:xfrm>
            <a:off x="495875" y="1329075"/>
            <a:ext cx="5115300" cy="35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DM Sans"/>
              <a:buChar char="●"/>
            </a:pPr>
            <a:r>
              <a:rPr lang="en" sz="1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Giving institutional grants allows affordability for students. Spreading grants too thin limits their effect</a:t>
            </a:r>
            <a:endParaRPr sz="15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DM Sans"/>
              <a:buChar char="○"/>
            </a:pPr>
            <a:r>
              <a:rPr lang="en" sz="1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Not easy to address: </a:t>
            </a:r>
            <a:endParaRPr sz="15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DM Sans"/>
              <a:buChar char="■"/>
            </a:pPr>
            <a:r>
              <a:rPr lang="en" sz="1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Average public college already spend more per student than average tuition, </a:t>
            </a:r>
            <a:endParaRPr sz="15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DM Sans"/>
              <a:buChar char="■"/>
            </a:pPr>
            <a:r>
              <a:rPr lang="en" sz="1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Can’t restrict accessibility </a:t>
            </a:r>
            <a:endParaRPr sz="15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DM Sans"/>
              <a:buChar char="●"/>
            </a:pPr>
            <a:r>
              <a:rPr lang="en" sz="1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% of students receiving aid is positive, but % of student receiving specific kinds of aid is negative to a greater degree</a:t>
            </a:r>
            <a:endParaRPr sz="15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1000"/>
              </a:spcAft>
              <a:buClr>
                <a:schemeClr val="lt1"/>
              </a:buClr>
              <a:buSzPts val="1500"/>
              <a:buFont typeface="DM Sans"/>
              <a:buChar char="○"/>
            </a:pPr>
            <a:r>
              <a:rPr lang="en" sz="1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Grants usually only assist up to tuition price without accounting for cost of living, which makes up</a:t>
            </a:r>
            <a:r>
              <a:rPr lang="en" sz="1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a</a:t>
            </a:r>
            <a:r>
              <a:rPr lang="en" sz="1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large portion of cost of attendance</a:t>
            </a:r>
            <a:endParaRPr sz="15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342" name="Google Shape;342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8600" y="1746375"/>
            <a:ext cx="3228024" cy="22521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6"/>
          <p:cNvSpPr txBox="1"/>
          <p:nvPr>
            <p:ph type="title"/>
          </p:nvPr>
        </p:nvSpPr>
        <p:spPr>
          <a:xfrm>
            <a:off x="395700" y="196450"/>
            <a:ext cx="3615900" cy="112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50"/>
              <a:t>What affects retention for part-time students?</a:t>
            </a:r>
            <a:endParaRPr sz="2450"/>
          </a:p>
        </p:txBody>
      </p:sp>
      <p:sp>
        <p:nvSpPr>
          <p:cNvPr id="348" name="Google Shape;348;p46"/>
          <p:cNvSpPr txBox="1"/>
          <p:nvPr/>
        </p:nvSpPr>
        <p:spPr>
          <a:xfrm>
            <a:off x="197375" y="1368800"/>
            <a:ext cx="3992700" cy="35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 u="sng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Take this with a grain of salt</a:t>
            </a:r>
            <a:endParaRPr b="1" sz="1500" u="sng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DM Sans"/>
              <a:buChar char="●"/>
            </a:pPr>
            <a:r>
              <a:rPr lang="en" sz="15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Part-time model was unable to accurately predict retention</a:t>
            </a:r>
            <a:endParaRPr sz="15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DM Sans"/>
              <a:buChar char="●"/>
            </a:pPr>
            <a:r>
              <a:rPr lang="en" sz="15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Part-time retention can’t be predicted with the institutional variables used in this analysis</a:t>
            </a:r>
            <a:endParaRPr sz="15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DM Sans"/>
              <a:buChar char="○"/>
            </a:pPr>
            <a:r>
              <a:rPr lang="en" sz="15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Either a more student-focused phenomenon or something else outside the realm of this analysis</a:t>
            </a:r>
            <a:endParaRPr sz="15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1500"/>
              <a:buFont typeface="DM Sans"/>
              <a:buChar char="●"/>
            </a:pPr>
            <a:r>
              <a:rPr lang="en" sz="15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Nevertheless, variables identified were found to significantly correlate with part-time retention rates</a:t>
            </a:r>
            <a:endParaRPr sz="15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349" name="Google Shape;349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6550" y="981000"/>
            <a:ext cx="4569375" cy="318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47"/>
          <p:cNvSpPr txBox="1"/>
          <p:nvPr>
            <p:ph type="title"/>
          </p:nvPr>
        </p:nvSpPr>
        <p:spPr>
          <a:xfrm>
            <a:off x="395700" y="196450"/>
            <a:ext cx="3615900" cy="112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50"/>
              <a:t>What affects retention for part-time students?</a:t>
            </a:r>
            <a:endParaRPr sz="2450"/>
          </a:p>
        </p:txBody>
      </p:sp>
      <p:sp>
        <p:nvSpPr>
          <p:cNvPr id="355" name="Google Shape;355;p47"/>
          <p:cNvSpPr txBox="1"/>
          <p:nvPr/>
        </p:nvSpPr>
        <p:spPr>
          <a:xfrm>
            <a:off x="197375" y="1368800"/>
            <a:ext cx="3992700" cy="36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 u="sng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Different dynamic from full-time</a:t>
            </a:r>
            <a:endParaRPr b="1" sz="1500" u="sng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DM Sans"/>
              <a:buChar char="●"/>
            </a:pPr>
            <a:r>
              <a:rPr b="1" lang="en" sz="15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Total admissions:</a:t>
            </a:r>
            <a:r>
              <a:rPr lang="en" sz="15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 colleges with more part-time students see lower retention.</a:t>
            </a:r>
            <a:endParaRPr sz="15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DM Sans"/>
              <a:buChar char="○"/>
            </a:pPr>
            <a:r>
              <a:rPr lang="en" sz="15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Consistent with lower average retention rate for part-time students</a:t>
            </a:r>
            <a:endParaRPr sz="15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DM Sans"/>
              <a:buChar char="●"/>
            </a:pPr>
            <a:r>
              <a:rPr b="1" lang="en" sz="15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ACT Submission rate:</a:t>
            </a:r>
            <a:r>
              <a:rPr lang="en" sz="15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 negative predictor of part-time retention</a:t>
            </a:r>
            <a:endParaRPr sz="15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DM Sans"/>
              <a:buChar char="○"/>
            </a:pPr>
            <a:r>
              <a:rPr lang="en" sz="15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Might be noise, only accepted with relaxed p-threshold </a:t>
            </a:r>
            <a:br>
              <a:rPr lang="en" sz="15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lang="en" sz="15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(p = .067)</a:t>
            </a:r>
            <a:endParaRPr sz="15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DM Sans"/>
              <a:buChar char="○"/>
            </a:pPr>
            <a:r>
              <a:rPr lang="en" sz="15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Hard to explain. SAT submissions were positive for full-time</a:t>
            </a:r>
            <a:endParaRPr sz="15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356" name="Google Shape;356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6550" y="981000"/>
            <a:ext cx="4569375" cy="3181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57" name="Google Shape;357;p47"/>
          <p:cNvCxnSpPr/>
          <p:nvPr/>
        </p:nvCxnSpPr>
        <p:spPr>
          <a:xfrm rot="10800000">
            <a:off x="5026825" y="2557825"/>
            <a:ext cx="532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8" name="Google Shape;358;p47"/>
          <p:cNvCxnSpPr/>
          <p:nvPr/>
        </p:nvCxnSpPr>
        <p:spPr>
          <a:xfrm rot="10800000">
            <a:off x="7836825" y="2520600"/>
            <a:ext cx="167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9" name="Google Shape;359;p47"/>
          <p:cNvCxnSpPr/>
          <p:nvPr/>
        </p:nvCxnSpPr>
        <p:spPr>
          <a:xfrm rot="10800000">
            <a:off x="4890025" y="3687025"/>
            <a:ext cx="659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0" name="Google Shape;360;p47"/>
          <p:cNvCxnSpPr/>
          <p:nvPr/>
        </p:nvCxnSpPr>
        <p:spPr>
          <a:xfrm rot="10800000">
            <a:off x="6579000" y="3635325"/>
            <a:ext cx="167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6" name="Google Shape;366;p48"/>
          <p:cNvSpPr txBox="1"/>
          <p:nvPr>
            <p:ph idx="1" type="subTitle"/>
          </p:nvPr>
        </p:nvSpPr>
        <p:spPr>
          <a:xfrm>
            <a:off x="861175" y="736575"/>
            <a:ext cx="7097700" cy="5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Limitations of this analysis</a:t>
            </a:r>
            <a:endParaRPr/>
          </a:p>
        </p:txBody>
      </p:sp>
      <p:sp>
        <p:nvSpPr>
          <p:cNvPr id="367" name="Google Shape;367;p48"/>
          <p:cNvSpPr txBox="1"/>
          <p:nvPr/>
        </p:nvSpPr>
        <p:spPr>
          <a:xfrm>
            <a:off x="861175" y="1329075"/>
            <a:ext cx="7237500" cy="3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DM Sans"/>
              <a:buChar char="●"/>
            </a:pPr>
            <a:r>
              <a:rPr lang="en" sz="1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Regression models reveal association, not causation</a:t>
            </a:r>
            <a:endParaRPr sz="15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DM Sans"/>
              <a:buChar char="○"/>
            </a:pPr>
            <a:r>
              <a:rPr lang="en" sz="1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Cannot guarantee outcomes </a:t>
            </a:r>
            <a:endParaRPr sz="15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DM Sans"/>
              <a:buChar char="○"/>
            </a:pPr>
            <a:r>
              <a:rPr lang="en" sz="1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Complicated phenomenon driven by economy, marketing etc.</a:t>
            </a:r>
            <a:endParaRPr sz="15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DM Sans"/>
              <a:buChar char="●"/>
            </a:pPr>
            <a:r>
              <a:rPr lang="en" sz="1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“Chicken-and-egg” problem:</a:t>
            </a:r>
            <a:endParaRPr sz="15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DM Sans"/>
              <a:buChar char="○"/>
            </a:pPr>
            <a:r>
              <a:rPr lang="en" sz="1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Do schools have better retention because they have more resources, or do they have more resources because they have higher retention?</a:t>
            </a:r>
            <a:endParaRPr sz="15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DM Sans"/>
              <a:buChar char="●"/>
            </a:pPr>
            <a:r>
              <a:rPr lang="en" sz="1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Correlated variables are dropped from the model</a:t>
            </a:r>
            <a:endParaRPr sz="15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DM Sans"/>
              <a:buChar char="○"/>
            </a:pPr>
            <a:r>
              <a:rPr lang="en" sz="1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Tuition price and institutional grant average are highly correlated. If institutional grant average was omitted, tuition would likely take its place, possibly altering the framing</a:t>
            </a:r>
            <a:endParaRPr sz="15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DM Sans"/>
              <a:buChar char="●"/>
            </a:pPr>
            <a:r>
              <a:rPr lang="en" sz="1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Relies on what data IPEDS provides, and can’t account for external factors</a:t>
            </a:r>
            <a:endParaRPr sz="15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DM Sans"/>
              <a:buChar char="○"/>
            </a:pPr>
            <a:r>
              <a:rPr lang="en" sz="1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23-24 data, may still be impacted by COVID.</a:t>
            </a:r>
            <a:endParaRPr sz="15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3" name="Google Shape;373;p49"/>
          <p:cNvSpPr txBox="1"/>
          <p:nvPr>
            <p:ph idx="1" type="subTitle"/>
          </p:nvPr>
        </p:nvSpPr>
        <p:spPr>
          <a:xfrm>
            <a:off x="861175" y="736575"/>
            <a:ext cx="7097700" cy="5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So what </a:t>
            </a:r>
            <a:r>
              <a:rPr i="1" lang="en"/>
              <a:t>can</a:t>
            </a:r>
            <a:r>
              <a:rPr lang="en"/>
              <a:t> this analysis tell us?</a:t>
            </a:r>
            <a:endParaRPr/>
          </a:p>
        </p:txBody>
      </p:sp>
      <p:sp>
        <p:nvSpPr>
          <p:cNvPr id="374" name="Google Shape;374;p49"/>
          <p:cNvSpPr txBox="1"/>
          <p:nvPr/>
        </p:nvSpPr>
        <p:spPr>
          <a:xfrm>
            <a:off x="861175" y="1507550"/>
            <a:ext cx="7237500" cy="28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DM Sans"/>
              <a:buChar char="●"/>
            </a:pPr>
            <a:r>
              <a:rPr lang="en" sz="1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The institutional factors used for this analysis can partly explain changes in retention for full-time students, but not part-time students</a:t>
            </a:r>
            <a:endParaRPr sz="15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DM Sans"/>
              <a:buChar char="●"/>
            </a:pPr>
            <a:r>
              <a:rPr b="1" lang="en" sz="1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Money Talks: </a:t>
            </a:r>
            <a:r>
              <a:rPr lang="en" sz="1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The most impactful predictors for retention were financial-related variables</a:t>
            </a:r>
            <a:endParaRPr sz="15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DM Sans"/>
              <a:buChar char="●"/>
            </a:pPr>
            <a:r>
              <a:rPr lang="en" sz="1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Despite being a major expense, i</a:t>
            </a:r>
            <a:r>
              <a:rPr lang="en" sz="1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nstitutional</a:t>
            </a:r>
            <a:r>
              <a:rPr lang="en" sz="1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grants are doing their job of allowing students to stay at university when given enough $$$.</a:t>
            </a:r>
            <a:endParaRPr sz="15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DM Sans"/>
              <a:buChar char="○"/>
            </a:pPr>
            <a:r>
              <a:rPr lang="en" sz="1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The Pell grant helps, but is largely insufficient. More government support could help relieve retention issues</a:t>
            </a:r>
            <a:endParaRPr sz="15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500"/>
              <a:buFont typeface="DM Sans"/>
              <a:buChar char="●"/>
            </a:pPr>
            <a:r>
              <a:rPr lang="en" sz="1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Well-resourced schools are in a better position for retention. Smaller schools with fewer resources may struggle</a:t>
            </a:r>
            <a:endParaRPr sz="15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0" name="Google Shape;380;p50"/>
          <p:cNvSpPr txBox="1"/>
          <p:nvPr>
            <p:ph idx="1" type="subTitle"/>
          </p:nvPr>
        </p:nvSpPr>
        <p:spPr>
          <a:xfrm>
            <a:off x="861175" y="736575"/>
            <a:ext cx="7097700" cy="5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Which variables </a:t>
            </a:r>
            <a:r>
              <a:rPr i="1" lang="en"/>
              <a:t>don’t </a:t>
            </a:r>
            <a:r>
              <a:rPr lang="en"/>
              <a:t>drive retention?</a:t>
            </a:r>
            <a:endParaRPr/>
          </a:p>
        </p:txBody>
      </p:sp>
      <p:sp>
        <p:nvSpPr>
          <p:cNvPr id="381" name="Google Shape;381;p50"/>
          <p:cNvSpPr txBox="1"/>
          <p:nvPr/>
        </p:nvSpPr>
        <p:spPr>
          <a:xfrm>
            <a:off x="861175" y="1507550"/>
            <a:ext cx="7237500" cy="3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DM Sans"/>
              <a:buChar char="●"/>
            </a:pPr>
            <a:r>
              <a:rPr b="1" lang="en" sz="1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Disclaimer: </a:t>
            </a:r>
            <a:r>
              <a:rPr lang="en" sz="1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just because they didn’t make it into the model, doesn’t mean they should be disregarded as important factors.</a:t>
            </a:r>
            <a:endParaRPr sz="15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DM Sans"/>
              <a:buChar char="●"/>
            </a:pPr>
            <a:r>
              <a:rPr lang="en" sz="1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Nevertheless, notable variables that didn’t prove significant:</a:t>
            </a:r>
            <a:endParaRPr sz="15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1" marL="9144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DM Sans"/>
              <a:buChar char="○"/>
            </a:pPr>
            <a:r>
              <a:rPr lang="en" sz="1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Governance structure - previous findings included for-profit, but among nonprofits, governance makes little difference</a:t>
            </a:r>
            <a:endParaRPr sz="15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1" marL="9144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DM Sans"/>
              <a:buChar char="○"/>
            </a:pPr>
            <a:r>
              <a:rPr lang="en" sz="1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Religious vs. Non-religious</a:t>
            </a:r>
            <a:endParaRPr sz="15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1" marL="9144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DM Sans"/>
              <a:buChar char="○"/>
            </a:pPr>
            <a:r>
              <a:rPr lang="en" sz="1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Cost of attendance &amp; tuition - collinear with </a:t>
            </a:r>
            <a:r>
              <a:rPr lang="en" sz="1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institutional</a:t>
            </a:r>
            <a:r>
              <a:rPr lang="en" sz="1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grant average, less statistically significant</a:t>
            </a:r>
            <a:endParaRPr sz="15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2" marL="1371600" rtl="0" algn="l"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500"/>
              <a:buFont typeface="DM Sans"/>
              <a:buChar char="■"/>
            </a:pPr>
            <a:r>
              <a:rPr lang="en" sz="1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Implies what </a:t>
            </a:r>
            <a:r>
              <a:rPr lang="en" sz="1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institutions</a:t>
            </a:r>
            <a:r>
              <a:rPr lang="en" sz="1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do to offset cost might be more important than cost itself</a:t>
            </a:r>
            <a:endParaRPr sz="15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7" name="Google Shape;387;p51"/>
          <p:cNvSpPr txBox="1"/>
          <p:nvPr>
            <p:ph idx="1" type="subTitle"/>
          </p:nvPr>
        </p:nvSpPr>
        <p:spPr>
          <a:xfrm>
            <a:off x="861175" y="736575"/>
            <a:ext cx="7097700" cy="5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Where to go from here?</a:t>
            </a:r>
            <a:endParaRPr/>
          </a:p>
        </p:txBody>
      </p:sp>
      <p:sp>
        <p:nvSpPr>
          <p:cNvPr id="388" name="Google Shape;388;p51"/>
          <p:cNvSpPr txBox="1"/>
          <p:nvPr/>
        </p:nvSpPr>
        <p:spPr>
          <a:xfrm>
            <a:off x="861175" y="1507550"/>
            <a:ext cx="7237500" cy="25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DM Sans"/>
              <a:buChar char="●"/>
            </a:pPr>
            <a:r>
              <a:rPr lang="en" sz="1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Expected benefits of this study: limited. </a:t>
            </a:r>
            <a:endParaRPr sz="15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1" marL="9144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DM Sans"/>
              <a:buChar char="○"/>
            </a:pPr>
            <a:r>
              <a:rPr lang="en" sz="1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More research required to properly explain institutional factors explaining retention</a:t>
            </a:r>
            <a:endParaRPr sz="15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2" marL="13716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DM Sans"/>
              <a:buChar char="■"/>
            </a:pPr>
            <a:r>
              <a:rPr lang="en" sz="1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Part-time retention will require a different set of variables entirely</a:t>
            </a:r>
            <a:endParaRPr sz="15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1" marL="9144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DM Sans"/>
              <a:buChar char="○"/>
            </a:pPr>
            <a:r>
              <a:rPr lang="en" sz="1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Capture data over time instead of 23-24 snapshot.</a:t>
            </a:r>
            <a:endParaRPr sz="15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23850" lvl="1" marL="914400" rtl="0" algn="l"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500"/>
              <a:buFont typeface="DM Sans"/>
              <a:buChar char="○"/>
            </a:pPr>
            <a:r>
              <a:rPr lang="en" sz="1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Incorporate cost of attendance for out-of-state students — was originally removed but later found to improve model performance</a:t>
            </a:r>
            <a:endParaRPr sz="15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4" name="Google Shape;394;p52"/>
          <p:cNvSpPr txBox="1"/>
          <p:nvPr>
            <p:ph idx="1" type="body"/>
          </p:nvPr>
        </p:nvSpPr>
        <p:spPr>
          <a:xfrm>
            <a:off x="197375" y="2624975"/>
            <a:ext cx="45792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000"/>
              <a:t>National Center for Education Statistics. (2022).</a:t>
            </a:r>
            <a:endParaRPr sz="1000"/>
          </a:p>
        </p:txBody>
      </p:sp>
      <p:sp>
        <p:nvSpPr>
          <p:cNvPr id="395" name="Google Shape;395;p52"/>
          <p:cNvSpPr txBox="1"/>
          <p:nvPr>
            <p:ph idx="2" type="body"/>
          </p:nvPr>
        </p:nvSpPr>
        <p:spPr>
          <a:xfrm>
            <a:off x="197375" y="2862650"/>
            <a:ext cx="2644800" cy="26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800"/>
              <a:t>Undergraduate retention and graduation rates.</a:t>
            </a:r>
            <a:endParaRPr sz="800"/>
          </a:p>
        </p:txBody>
      </p:sp>
      <p:sp>
        <p:nvSpPr>
          <p:cNvPr id="396" name="Google Shape;396;p52"/>
          <p:cNvSpPr txBox="1"/>
          <p:nvPr>
            <p:ph idx="3" type="body"/>
          </p:nvPr>
        </p:nvSpPr>
        <p:spPr>
          <a:xfrm>
            <a:off x="197375" y="2990700"/>
            <a:ext cx="2644800" cy="26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700"/>
              <a:t>https://nces.ed.gov/programs/coe/indicator/ctr</a:t>
            </a:r>
            <a:endParaRPr sz="700"/>
          </a:p>
        </p:txBody>
      </p:sp>
      <p:sp>
        <p:nvSpPr>
          <p:cNvPr id="397" name="Google Shape;397;p52"/>
          <p:cNvSpPr txBox="1"/>
          <p:nvPr>
            <p:ph idx="4" type="body"/>
          </p:nvPr>
        </p:nvSpPr>
        <p:spPr>
          <a:xfrm>
            <a:off x="197375" y="3476750"/>
            <a:ext cx="53226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accent5"/>
              </a:buClr>
              <a:buSzPts val="1100"/>
              <a:buFont typeface="Arial"/>
              <a:buNone/>
            </a:pPr>
            <a:r>
              <a:rPr lang="en" sz="1000"/>
              <a:t>National Student Clearinghouse Research Center. (2025, June 26).</a:t>
            </a:r>
            <a:endParaRPr sz="1000"/>
          </a:p>
        </p:txBody>
      </p:sp>
      <p:sp>
        <p:nvSpPr>
          <p:cNvPr id="398" name="Google Shape;398;p52"/>
          <p:cNvSpPr txBox="1"/>
          <p:nvPr>
            <p:ph idx="5" type="body"/>
          </p:nvPr>
        </p:nvSpPr>
        <p:spPr>
          <a:xfrm>
            <a:off x="197375" y="3732700"/>
            <a:ext cx="5752800" cy="26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800"/>
              <a:t>Persistence and retention: Fall 2023 beginning postsecondary student cohort. </a:t>
            </a:r>
            <a:endParaRPr sz="800"/>
          </a:p>
        </p:txBody>
      </p:sp>
      <p:sp>
        <p:nvSpPr>
          <p:cNvPr id="399" name="Google Shape;399;p52"/>
          <p:cNvSpPr txBox="1"/>
          <p:nvPr>
            <p:ph idx="6" type="body"/>
          </p:nvPr>
        </p:nvSpPr>
        <p:spPr>
          <a:xfrm>
            <a:off x="197375" y="3901425"/>
            <a:ext cx="2644800" cy="26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700"/>
              <a:t>https://nscresearchcenter.org/persistence-retention/</a:t>
            </a:r>
            <a:endParaRPr sz="700"/>
          </a:p>
        </p:txBody>
      </p:sp>
      <p:sp>
        <p:nvSpPr>
          <p:cNvPr id="400" name="Google Shape;400;p52"/>
          <p:cNvSpPr txBox="1"/>
          <p:nvPr>
            <p:ph idx="7" type="body"/>
          </p:nvPr>
        </p:nvSpPr>
        <p:spPr>
          <a:xfrm>
            <a:off x="197375" y="1967550"/>
            <a:ext cx="68037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accent5"/>
              </a:buClr>
              <a:buSzPts val="1100"/>
              <a:buFont typeface="Arial"/>
              <a:buNone/>
            </a:pPr>
            <a:r>
              <a:rPr lang="en" sz="1000"/>
              <a:t>Muller, K., Feuer, E., Nyman, M., Sokolowski, K., Squadere, J., &amp; Rotella, L. (2017).</a:t>
            </a:r>
            <a:endParaRPr sz="1000"/>
          </a:p>
        </p:txBody>
      </p:sp>
      <p:sp>
        <p:nvSpPr>
          <p:cNvPr id="401" name="Google Shape;401;p52"/>
          <p:cNvSpPr txBox="1"/>
          <p:nvPr>
            <p:ph idx="8" type="body"/>
          </p:nvPr>
        </p:nvSpPr>
        <p:spPr>
          <a:xfrm>
            <a:off x="197375" y="2215725"/>
            <a:ext cx="6828300" cy="26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800"/>
              <a:t>Examining predictors of first year college student retention. New York Journal of Student Affairs, 17(1), 3–14. </a:t>
            </a:r>
            <a:endParaRPr sz="800"/>
          </a:p>
        </p:txBody>
      </p:sp>
      <p:sp>
        <p:nvSpPr>
          <p:cNvPr id="402" name="Google Shape;402;p52"/>
          <p:cNvSpPr txBox="1"/>
          <p:nvPr>
            <p:ph idx="9" type="body"/>
          </p:nvPr>
        </p:nvSpPr>
        <p:spPr>
          <a:xfrm>
            <a:off x="197375" y="2349825"/>
            <a:ext cx="6637800" cy="26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700"/>
              <a:t>https://commons.library.stonybrook.edu/cgi/viewcontent.cgi?article=1017&amp;context=nyjsa</a:t>
            </a:r>
            <a:endParaRPr sz="700"/>
          </a:p>
        </p:txBody>
      </p:sp>
      <p:sp>
        <p:nvSpPr>
          <p:cNvPr id="403" name="Google Shape;403;p52"/>
          <p:cNvSpPr txBox="1"/>
          <p:nvPr>
            <p:ph idx="13" type="body"/>
          </p:nvPr>
        </p:nvSpPr>
        <p:spPr>
          <a:xfrm>
            <a:off x="197375" y="451200"/>
            <a:ext cx="64167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accent5"/>
              </a:buClr>
              <a:buSzPts val="1100"/>
              <a:buFont typeface="Arial"/>
              <a:buNone/>
            </a:pPr>
            <a:r>
              <a:rPr lang="en" sz="1000"/>
              <a:t>Albornoz-Toyohama, R. H., Mendigure-Hachircana, R., Haro-Casildo, S., &amp; Abanto-Ramírez, C. D. (2025).</a:t>
            </a:r>
            <a:endParaRPr sz="1000"/>
          </a:p>
        </p:txBody>
      </p:sp>
      <p:sp>
        <p:nvSpPr>
          <p:cNvPr id="404" name="Google Shape;404;p52"/>
          <p:cNvSpPr txBox="1"/>
          <p:nvPr>
            <p:ph idx="14" type="body"/>
          </p:nvPr>
        </p:nvSpPr>
        <p:spPr>
          <a:xfrm>
            <a:off x="197375" y="687500"/>
            <a:ext cx="7024800" cy="26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800"/>
              <a:t>Factors influencing student retention university students: an analysis of institutional reputation, social responsibility and loyalty. </a:t>
            </a:r>
            <a:endParaRPr sz="800"/>
          </a:p>
        </p:txBody>
      </p:sp>
      <p:sp>
        <p:nvSpPr>
          <p:cNvPr id="405" name="Google Shape;405;p52"/>
          <p:cNvSpPr txBox="1"/>
          <p:nvPr>
            <p:ph idx="15" type="body"/>
          </p:nvPr>
        </p:nvSpPr>
        <p:spPr>
          <a:xfrm>
            <a:off x="197375" y="824388"/>
            <a:ext cx="2644800" cy="26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700"/>
              <a:t>https://doi.org/10.3389/feduc.2025.1499518</a:t>
            </a:r>
            <a:endParaRPr sz="700"/>
          </a:p>
        </p:txBody>
      </p:sp>
      <p:sp>
        <p:nvSpPr>
          <p:cNvPr id="406" name="Google Shape;406;p52"/>
          <p:cNvSpPr txBox="1"/>
          <p:nvPr>
            <p:ph idx="16" type="body"/>
          </p:nvPr>
        </p:nvSpPr>
        <p:spPr>
          <a:xfrm>
            <a:off x="197375" y="1223288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accent5"/>
              </a:buClr>
              <a:buSzPts val="1100"/>
              <a:buFont typeface="Arial"/>
              <a:buNone/>
            </a:pPr>
            <a:r>
              <a:rPr lang="en" sz="1000"/>
              <a:t>Hanson, M. (2026, February 17).</a:t>
            </a:r>
            <a:endParaRPr sz="1000"/>
          </a:p>
        </p:txBody>
      </p:sp>
      <p:sp>
        <p:nvSpPr>
          <p:cNvPr id="407" name="Google Shape;407;p52"/>
          <p:cNvSpPr txBox="1"/>
          <p:nvPr>
            <p:ph idx="17" type="body"/>
          </p:nvPr>
        </p:nvSpPr>
        <p:spPr>
          <a:xfrm>
            <a:off x="197375" y="1460200"/>
            <a:ext cx="2644800" cy="26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800"/>
              <a:t>U.S. public education spending statistics.</a:t>
            </a:r>
            <a:endParaRPr sz="800"/>
          </a:p>
        </p:txBody>
      </p:sp>
      <p:sp>
        <p:nvSpPr>
          <p:cNvPr id="408" name="Google Shape;408;p52"/>
          <p:cNvSpPr txBox="1"/>
          <p:nvPr>
            <p:ph idx="18" type="body"/>
          </p:nvPr>
        </p:nvSpPr>
        <p:spPr>
          <a:xfrm>
            <a:off x="197375" y="1568663"/>
            <a:ext cx="5034000" cy="26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700"/>
              <a:t>https://educationdata.org/public-education-spending-statistics </a:t>
            </a:r>
            <a:endParaRPr sz="700"/>
          </a:p>
        </p:txBody>
      </p:sp>
      <p:sp>
        <p:nvSpPr>
          <p:cNvPr id="409" name="Google Shape;409;p52"/>
          <p:cNvSpPr txBox="1"/>
          <p:nvPr>
            <p:ph idx="31" type="body"/>
          </p:nvPr>
        </p:nvSpPr>
        <p:spPr>
          <a:xfrm>
            <a:off x="3335225" y="91900"/>
            <a:ext cx="7491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References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cience Presentation">
  <a:themeElements>
    <a:clrScheme name="Simple Light">
      <a:dk1>
        <a:srgbClr val="005088"/>
      </a:dk1>
      <a:lt1>
        <a:srgbClr val="F3F0DF"/>
      </a:lt1>
      <a:dk2>
        <a:srgbClr val="121212"/>
      </a:dk2>
      <a:lt2>
        <a:srgbClr val="D0E0E3"/>
      </a:lt2>
      <a:accent1>
        <a:srgbClr val="11CAA0"/>
      </a:accent1>
      <a:accent2>
        <a:srgbClr val="6D6D6B"/>
      </a:accent2>
      <a:accent3>
        <a:srgbClr val="FFFFFF"/>
      </a:accent3>
      <a:accent4>
        <a:srgbClr val="656839"/>
      </a:accent4>
      <a:accent5>
        <a:srgbClr val="774936"/>
      </a:accent5>
      <a:accent6>
        <a:srgbClr val="C492B1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